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0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560320"/>
            <a:ext cx="1097280" cy="27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32004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0">
                <a:solidFill>
                  <a:srgbClr val="B0CFE8"/>
                </a:solidFill>
                <a:latin typeface="Arial" panose="020B0604020202090204"/>
              </a:defRPr>
            </a:pPr>
            <a:r>
              <a:t>HUNAN CYBERSECURITY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32004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0">
                <a:solidFill>
                  <a:srgbClr val="B0CFE8"/>
                </a:solidFill>
                <a:latin typeface="Arial" panose="020B0604020202090204"/>
              </a:defRPr>
            </a:pPr>
            <a:r>
              <a:t>INDUSTRY PANORAMA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303520"/>
            <a:ext cx="3200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90B8D8"/>
                </a:solidFill>
                <a:latin typeface="Arial" panose="020B0604020202090204"/>
              </a:defRPr>
            </a:pPr>
            <a:r>
              <a:t>2026 INDUSTRY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011680"/>
            <a:ext cx="685800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400" b="0">
                <a:solidFill>
                  <a:srgbClr val="D46A1A"/>
                </a:solidFill>
                <a:latin typeface="微软雅黑"/>
              </a:defRPr>
            </a:pPr>
            <a:r>
              <a:t>产业研究报告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468880"/>
            <a:ext cx="6858000" cy="10058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4000" b="1">
                <a:solidFill>
                  <a:srgbClr val="003D6B"/>
                </a:solidFill>
                <a:latin typeface="微软雅黑"/>
              </a:defRPr>
            </a:pPr>
            <a:r>
              <a:t>湖南省网络安全</a:t>
            </a:r>
            <a:br/>
            <a:r>
              <a:t>产业全景图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931920"/>
            <a:ext cx="68580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0">
                <a:solidFill>
                  <a:srgbClr val="7A7A8A"/>
                </a:solidFill>
                <a:latin typeface="微软雅黑"/>
              </a:defRPr>
            </a:pPr>
            <a:r>
              <a:t>"两芯一生态"技术体系  ·  十五五规划关键之年  ·  2026年度产业图谱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4754880"/>
            <a:ext cx="15544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400" b="1">
                <a:solidFill>
                  <a:srgbClr val="003D6B"/>
                </a:solidFill>
                <a:latin typeface="Arial" panose="020B0604020202090204"/>
              </a:defRPr>
            </a:pPr>
            <a:r>
              <a:t>8,520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4892040"/>
            <a:ext cx="457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0">
                <a:solidFill>
                  <a:srgbClr val="AAAAB8"/>
                </a:solidFill>
                <a:latin typeface="微软雅黑"/>
              </a:defRPr>
            </a:pPr>
            <a:r>
              <a:t>亿元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5166360"/>
            <a:ext cx="15544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7A7A8A"/>
                </a:solidFill>
                <a:latin typeface="微软雅黑"/>
              </a:defRPr>
            </a:pPr>
            <a:r>
              <a:t>绿色智能计算产业规模（2024）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4754880"/>
            <a:ext cx="15544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400" b="1">
                <a:solidFill>
                  <a:srgbClr val="003D6B"/>
                </a:solidFill>
                <a:latin typeface="Arial" panose="020B0604020202090204"/>
              </a:defRPr>
            </a:pPr>
            <a:r>
              <a:t>1,400+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4892040"/>
            <a:ext cx="457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0">
                <a:solidFill>
                  <a:srgbClr val="AAAAB8"/>
                </a:solidFill>
                <a:latin typeface="微软雅黑"/>
              </a:defRPr>
            </a:pPr>
            <a:r>
              <a:t>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5166360"/>
            <a:ext cx="15544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7A7A8A"/>
                </a:solidFill>
                <a:latin typeface="微软雅黑"/>
              </a:defRPr>
            </a:pPr>
            <a:r>
              <a:t>集群骨干企业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754880"/>
            <a:ext cx="15544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400" b="1">
                <a:solidFill>
                  <a:srgbClr val="003D6B"/>
                </a:solidFill>
                <a:latin typeface="Arial" panose="020B0604020202090204"/>
              </a:defRPr>
            </a:pPr>
            <a:r>
              <a:t>2,300+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4892040"/>
            <a:ext cx="457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0">
                <a:solidFill>
                  <a:srgbClr val="AAAAB8"/>
                </a:solidFill>
                <a:latin typeface="微软雅黑"/>
              </a:defRPr>
            </a:pPr>
            <a:r>
              <a:t>亿元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5166360"/>
            <a:ext cx="15544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7A7A8A"/>
                </a:solidFill>
                <a:latin typeface="微软雅黑"/>
              </a:defRPr>
            </a:pPr>
            <a:r>
              <a:t>集群2025年产值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800" y="4754880"/>
            <a:ext cx="15544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400" b="1">
                <a:solidFill>
                  <a:srgbClr val="003D6B"/>
                </a:solidFill>
                <a:latin typeface="Arial" panose="020B0604020202090204"/>
              </a:defRPr>
            </a:pPr>
            <a:r>
              <a:t>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27080" y="4892040"/>
            <a:ext cx="457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0">
                <a:solidFill>
                  <a:srgbClr val="AAAAB8"/>
                </a:solidFill>
                <a:latin typeface="微软雅黑"/>
              </a:defRPr>
            </a:pPr>
            <a:r>
              <a:t>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5166360"/>
            <a:ext cx="15544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7A7A8A"/>
                </a:solidFill>
                <a:latin typeface="微软雅黑"/>
              </a:defRPr>
            </a:pPr>
            <a:r>
              <a:t>上市企业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54880" y="5852160"/>
            <a:ext cx="6400800" cy="0"/>
          </a:xfrm>
          <a:prstGeom prst="line">
            <a:avLst/>
          </a:prstGeom>
          <a:ln w="635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754880" y="5943600"/>
            <a:ext cx="6400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数据来源：湖南省工信厅 · 长沙市政府 · 湖南日报 · 中国新闻网 · 全国工商联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2286000"/>
            <a:ext cx="100584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400" b="1">
                <a:solidFill>
                  <a:srgbClr val="003D6B"/>
                </a:solidFill>
                <a:latin typeface="微软雅黑"/>
              </a:defRPr>
            </a:pPr>
            <a:r>
              <a:t>目  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841248"/>
            <a:ext cx="10972800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320040"/>
            <a:ext cx="109728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AAAAB8"/>
                </a:solidFill>
                <a:latin typeface="微软雅黑"/>
              </a:defRPr>
            </a:pPr>
            <a:r>
              <a:t>2 / 9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492240"/>
            <a:ext cx="10972800" cy="0"/>
          </a:xfrm>
          <a:prstGeom prst="line">
            <a:avLst/>
          </a:prstGeom>
          <a:ln w="635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537960"/>
            <a:ext cx="731520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湖南省网络安全产业全景图  |  2026年度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37960"/>
            <a:ext cx="320040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基于公开信息整理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280160"/>
            <a:ext cx="1097280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4800" b="1">
                <a:solidFill>
                  <a:srgbClr val="003D6B"/>
                </a:solidFill>
                <a:latin typeface="Arial" panose="020B0604020202090204"/>
              </a:defRPr>
            </a:pPr>
            <a:r>
              <a:t>01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011680" y="1417320"/>
            <a:ext cx="0" cy="64008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194560" y="1371600"/>
            <a:ext cx="3657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800" b="1">
                <a:solidFill>
                  <a:srgbClr val="2C2C2C"/>
                </a:solidFill>
                <a:latin typeface="微软雅黑"/>
              </a:defRPr>
            </a:pPr>
            <a:r>
              <a:t>产业链全景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1783080"/>
            <a:ext cx="3657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0">
                <a:solidFill>
                  <a:srgbClr val="7A7A8A"/>
                </a:solidFill>
                <a:latin typeface="微软雅黑"/>
              </a:defRPr>
            </a:pPr>
            <a:r>
              <a:t>网络安全上中下游全链路解析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280160"/>
            <a:ext cx="1097280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4800" b="1">
                <a:solidFill>
                  <a:srgbClr val="007C7C"/>
                </a:solidFill>
                <a:latin typeface="Arial" panose="020B0604020202090204"/>
              </a:defRPr>
            </a:pPr>
            <a:r>
              <a:t>02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98080" y="1417320"/>
            <a:ext cx="0" cy="64008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680960" y="1371600"/>
            <a:ext cx="3657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800" b="1">
                <a:solidFill>
                  <a:srgbClr val="2C2C2C"/>
                </a:solidFill>
                <a:latin typeface="微软雅黑"/>
              </a:defRPr>
            </a:pPr>
            <a:r>
              <a:t>区域布局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1783080"/>
            <a:ext cx="3657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0">
                <a:solidFill>
                  <a:srgbClr val="7A7A8A"/>
                </a:solidFill>
                <a:latin typeface="微软雅黑"/>
              </a:defRPr>
            </a:pPr>
            <a:r>
              <a:t>长株潭核心集聚区+衡阳郴州协同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834639"/>
            <a:ext cx="1097280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4800" b="1">
                <a:solidFill>
                  <a:srgbClr val="D46A1A"/>
                </a:solidFill>
                <a:latin typeface="Arial" panose="020B0604020202090204"/>
              </a:defRPr>
            </a:pPr>
            <a:r>
              <a:t>03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011680" y="2971799"/>
            <a:ext cx="0" cy="64008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194560" y="2926079"/>
            <a:ext cx="3657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800" b="1">
                <a:solidFill>
                  <a:srgbClr val="2C2C2C"/>
                </a:solidFill>
                <a:latin typeface="微软雅黑"/>
              </a:defRPr>
            </a:pPr>
            <a:r>
              <a:t>重点企业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3337559"/>
            <a:ext cx="3657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0">
                <a:solidFill>
                  <a:srgbClr val="7A7A8A"/>
                </a:solidFill>
                <a:latin typeface="微软雅黑"/>
              </a:defRPr>
            </a:pPr>
            <a:r>
              <a:t>16家龙头与本土骨干企业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834639"/>
            <a:ext cx="1097280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4800" b="1">
                <a:solidFill>
                  <a:srgbClr val="2E864B"/>
                </a:solidFill>
                <a:latin typeface="Arial" panose="020B0604020202090204"/>
              </a:defRPr>
            </a:pPr>
            <a:r>
              <a:t>04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498080" y="2971799"/>
            <a:ext cx="0" cy="64008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680960" y="2926079"/>
            <a:ext cx="3657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800" b="1">
                <a:solidFill>
                  <a:srgbClr val="2C2C2C"/>
                </a:solidFill>
                <a:latin typeface="微软雅黑"/>
              </a:defRPr>
            </a:pPr>
            <a:r>
              <a:t>创新平台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3337559"/>
            <a:ext cx="3657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0">
                <a:solidFill>
                  <a:srgbClr val="7A7A8A"/>
                </a:solidFill>
                <a:latin typeface="微软雅黑"/>
              </a:defRPr>
            </a:pPr>
            <a:r>
              <a:t>科研平台与高校力量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389120"/>
            <a:ext cx="1097280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4800" b="1">
                <a:solidFill>
                  <a:srgbClr val="C0392B"/>
                </a:solidFill>
                <a:latin typeface="Arial" panose="020B0604020202090204"/>
              </a:defRPr>
            </a:pPr>
            <a:r>
              <a:t>05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11680" y="4526280"/>
            <a:ext cx="0" cy="64008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194560" y="4480560"/>
            <a:ext cx="3657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800" b="1">
                <a:solidFill>
                  <a:srgbClr val="2C2C2C"/>
                </a:solidFill>
                <a:latin typeface="微软雅黑"/>
              </a:defRPr>
            </a:pPr>
            <a:r>
              <a:t>政策支撑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4560" y="4892040"/>
            <a:ext cx="3657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0">
                <a:solidFill>
                  <a:srgbClr val="7A7A8A"/>
                </a:solidFill>
                <a:latin typeface="微软雅黑"/>
              </a:defRPr>
            </a:pPr>
            <a:r>
              <a:t>8项核心政策体系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389120"/>
            <a:ext cx="1097280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4800" b="1">
                <a:solidFill>
                  <a:srgbClr val="6C3480"/>
                </a:solidFill>
                <a:latin typeface="Arial" panose="020B0604020202090204"/>
              </a:defRPr>
            </a:pPr>
            <a:r>
              <a:t>06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498080" y="4526280"/>
            <a:ext cx="0" cy="64008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680960" y="4480560"/>
            <a:ext cx="3657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800" b="1">
                <a:solidFill>
                  <a:srgbClr val="2C2C2C"/>
                </a:solidFill>
                <a:latin typeface="微软雅黑"/>
              </a:defRPr>
            </a:pPr>
            <a:r>
              <a:t>发展趋势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4892040"/>
            <a:ext cx="3657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0">
                <a:solidFill>
                  <a:srgbClr val="7A7A8A"/>
                </a:solidFill>
                <a:latin typeface="微软雅黑"/>
              </a:defRPr>
            </a:pPr>
            <a:r>
              <a:t>四大未来方向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2286000"/>
            <a:ext cx="100584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400" b="1">
                <a:solidFill>
                  <a:srgbClr val="003D6B"/>
                </a:solidFill>
                <a:latin typeface="微软雅黑"/>
              </a:defRPr>
            </a:pPr>
            <a:r>
              <a:t>网络安全产业链全景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841248"/>
            <a:ext cx="10972800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320040"/>
            <a:ext cx="109728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AAAAB8"/>
                </a:solidFill>
                <a:latin typeface="微软雅黑"/>
              </a:defRPr>
            </a:pPr>
            <a:r>
              <a:t>3 / 9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492240"/>
            <a:ext cx="10972800" cy="0"/>
          </a:xfrm>
          <a:prstGeom prst="line">
            <a:avLst/>
          </a:prstGeom>
          <a:ln w="635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537960"/>
            <a:ext cx="731520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湖南省网络安全产业全景图  |  2026年度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37960"/>
            <a:ext cx="320040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基于公开信息整理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051560"/>
            <a:ext cx="1188720" cy="1508760"/>
          </a:xfrm>
          <a:prstGeom prst="rect">
            <a:avLst/>
          </a:prstGeom>
          <a:solidFill>
            <a:srgbClr val="00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25880"/>
            <a:ext cx="118872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上游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28800"/>
            <a:ext cx="11887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D0E0F0"/>
                </a:solidFill>
                <a:latin typeface="微软雅黑"/>
              </a:defRPr>
            </a:pPr>
            <a:r>
              <a:t>基础软硬件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65960" y="1051560"/>
            <a:ext cx="2029968" cy="1508760"/>
          </a:xfrm>
          <a:prstGeom prst="rect">
            <a:avLst/>
          </a:prstGeom>
          <a:solidFill>
            <a:srgbClr val="F4F7FB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65960" y="1051560"/>
            <a:ext cx="2029968" cy="27432"/>
          </a:xfrm>
          <a:prstGeom prst="rect">
            <a:avLst/>
          </a:prstGeom>
          <a:solidFill>
            <a:srgbClr val="00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57400" y="1188720"/>
            <a:ext cx="1847088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003D6B"/>
                </a:solidFill>
                <a:latin typeface="微软雅黑"/>
              </a:defRPr>
            </a:pPr>
            <a:r>
              <a:t>CPU/芯片设计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1508760"/>
            <a:ext cx="1847088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飞腾CPU、鲲鹏CPU、景嘉微GPU</a:t>
            </a:r>
            <a:br/>
            <a:r>
              <a:t>国科微SSD控制器、毂梁微DSP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057400" y="2103120"/>
            <a:ext cx="1847088" cy="0"/>
          </a:xfrm>
          <a:prstGeom prst="line">
            <a:avLst/>
          </a:prstGeom>
          <a:ln w="635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057400" y="2167128"/>
            <a:ext cx="1847088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003D6B"/>
                </a:solidFill>
                <a:latin typeface="微软雅黑"/>
              </a:defRPr>
            </a:pPr>
            <a:r>
              <a:t>飞腾 · 鲲鹏 · 景嘉微 · 国科微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69080" y="1051560"/>
            <a:ext cx="2029968" cy="1508760"/>
          </a:xfrm>
          <a:prstGeom prst="rect">
            <a:avLst/>
          </a:prstGeom>
          <a:solidFill>
            <a:srgbClr val="F4F7FB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69080" y="1051560"/>
            <a:ext cx="2029968" cy="27432"/>
          </a:xfrm>
          <a:prstGeom prst="rect">
            <a:avLst/>
          </a:prstGeom>
          <a:solidFill>
            <a:srgbClr val="00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60520" y="1188720"/>
            <a:ext cx="1847088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003D6B"/>
                </a:solidFill>
                <a:latin typeface="微软雅黑"/>
              </a:defRPr>
            </a:pPr>
            <a:r>
              <a:t>操作系统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1508760"/>
            <a:ext cx="1847088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麒麟OS、麒麟信安OS</a:t>
            </a:r>
            <a:br/>
            <a:r>
              <a:t>openEuler信创生态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160520" y="2103120"/>
            <a:ext cx="1847088" cy="0"/>
          </a:xfrm>
          <a:prstGeom prst="line">
            <a:avLst/>
          </a:prstGeom>
          <a:ln w="635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160520" y="2167128"/>
            <a:ext cx="1847088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003D6B"/>
                </a:solidFill>
                <a:latin typeface="微软雅黑"/>
              </a:defRPr>
            </a:pPr>
            <a:r>
              <a:t>麒麟软件 · 麒麟信安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1051560"/>
            <a:ext cx="2029968" cy="1508760"/>
          </a:xfrm>
          <a:prstGeom prst="rect">
            <a:avLst/>
          </a:prstGeom>
          <a:solidFill>
            <a:srgbClr val="F4F7FB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1051560"/>
            <a:ext cx="2029968" cy="27432"/>
          </a:xfrm>
          <a:prstGeom prst="rect">
            <a:avLst/>
          </a:prstGeom>
          <a:solidFill>
            <a:srgbClr val="00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1188720"/>
            <a:ext cx="1847088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003D6B"/>
                </a:solidFill>
                <a:latin typeface="微软雅黑"/>
              </a:defRPr>
            </a:pPr>
            <a:r>
              <a:t>密码技术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1508760"/>
            <a:ext cx="1847088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国产密码算法、安全芯片</a:t>
            </a:r>
            <a:br/>
            <a:r>
              <a:t>身份认证基础设施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263640" y="2103120"/>
            <a:ext cx="1847088" cy="0"/>
          </a:xfrm>
          <a:prstGeom prst="line">
            <a:avLst/>
          </a:prstGeom>
          <a:ln w="635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263640" y="2167128"/>
            <a:ext cx="1847088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003D6B"/>
                </a:solidFill>
                <a:latin typeface="微软雅黑"/>
              </a:defRPr>
            </a:pPr>
            <a:r>
              <a:t>商用密码产业基地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75320" y="1051560"/>
            <a:ext cx="2029968" cy="1508760"/>
          </a:xfrm>
          <a:prstGeom prst="rect">
            <a:avLst/>
          </a:prstGeom>
          <a:solidFill>
            <a:srgbClr val="F4F7FB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75320" y="1051560"/>
            <a:ext cx="2029968" cy="27432"/>
          </a:xfrm>
          <a:prstGeom prst="rect">
            <a:avLst/>
          </a:prstGeom>
          <a:solidFill>
            <a:srgbClr val="00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1188720"/>
            <a:ext cx="1847088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003D6B"/>
                </a:solidFill>
                <a:latin typeface="微软雅黑"/>
              </a:defRPr>
            </a:pPr>
            <a:r>
              <a:t>基础软件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1508760"/>
            <a:ext cx="1847088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数据库、中间件、工具软件</a:t>
            </a:r>
            <a:br/>
            <a:r>
              <a:t>2026年南大通用填补DB空白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366760" y="2103120"/>
            <a:ext cx="1847088" cy="0"/>
          </a:xfrm>
          <a:prstGeom prst="line">
            <a:avLst/>
          </a:prstGeom>
          <a:ln w="635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366760" y="2167128"/>
            <a:ext cx="1847088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003D6B"/>
                </a:solidFill>
                <a:latin typeface="微软雅黑"/>
              </a:defRPr>
            </a:pPr>
            <a:r>
              <a:t>南大通用 · 亚信安全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378440" y="1051560"/>
            <a:ext cx="2029968" cy="1508760"/>
          </a:xfrm>
          <a:prstGeom prst="rect">
            <a:avLst/>
          </a:prstGeom>
          <a:solidFill>
            <a:srgbClr val="F4F7FB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378440" y="1051560"/>
            <a:ext cx="2029968" cy="27432"/>
          </a:xfrm>
          <a:prstGeom prst="rect">
            <a:avLst/>
          </a:prstGeom>
          <a:solidFill>
            <a:srgbClr val="00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69880" y="1188720"/>
            <a:ext cx="1847088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003D6B"/>
                </a:solidFill>
                <a:latin typeface="微软雅黑"/>
              </a:defRPr>
            </a:pPr>
            <a:r>
              <a:t>网络设备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69880" y="1508760"/>
            <a:ext cx="1847088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交换机、路由器、光纤通信</a:t>
            </a:r>
            <a:br/>
            <a:r>
              <a:t>5G+安全网络基础设施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0469880" y="2103120"/>
            <a:ext cx="1847088" cy="0"/>
          </a:xfrm>
          <a:prstGeom prst="line">
            <a:avLst/>
          </a:prstGeom>
          <a:ln w="635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0469880" y="2167128"/>
            <a:ext cx="1847088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003D6B"/>
                </a:solidFill>
                <a:latin typeface="微软雅黑"/>
              </a:defRPr>
            </a:pPr>
            <a:r>
              <a:t>信维电科 · 中国长城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2770632"/>
            <a:ext cx="1188720" cy="1508760"/>
          </a:xfrm>
          <a:prstGeom prst="rect">
            <a:avLst/>
          </a:prstGeom>
          <a:solidFill>
            <a:srgbClr val="00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3044952"/>
            <a:ext cx="118872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中游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3547872"/>
            <a:ext cx="11887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D0E0F0"/>
                </a:solidFill>
                <a:latin typeface="微软雅黑"/>
              </a:defRPr>
            </a:pPr>
            <a:r>
              <a:t>安全产品 · 服务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65960" y="2770632"/>
            <a:ext cx="2029968" cy="1508760"/>
          </a:xfrm>
          <a:prstGeom prst="rect">
            <a:avLst/>
          </a:prstGeom>
          <a:solidFill>
            <a:srgbClr val="F4F7FB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965960" y="2770632"/>
            <a:ext cx="2029968" cy="27432"/>
          </a:xfrm>
          <a:prstGeom prst="rect">
            <a:avLst/>
          </a:prstGeom>
          <a:solidFill>
            <a:srgbClr val="00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057400" y="2907792"/>
            <a:ext cx="1847088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007C7C"/>
                </a:solidFill>
                <a:latin typeface="微软雅黑"/>
              </a:defRPr>
            </a:pPr>
            <a:r>
              <a:t>网络安全产品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3227832"/>
            <a:ext cx="1847088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防火墙、IDS/IPS、态势感知</a:t>
            </a:r>
            <a:br/>
            <a:r>
              <a:t>终端安全、零信任、云安全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2057400" y="3822192"/>
            <a:ext cx="1847088" cy="0"/>
          </a:xfrm>
          <a:prstGeom prst="line">
            <a:avLst/>
          </a:prstGeom>
          <a:ln w="635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2057400" y="3886200"/>
            <a:ext cx="1847088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007C7C"/>
                </a:solidFill>
                <a:latin typeface="微软雅黑"/>
              </a:defRPr>
            </a:pPr>
            <a:r>
              <a:t>奇安信 · 深信服 · 360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069080" y="2770632"/>
            <a:ext cx="2029968" cy="1508760"/>
          </a:xfrm>
          <a:prstGeom prst="rect">
            <a:avLst/>
          </a:prstGeom>
          <a:solidFill>
            <a:srgbClr val="F4F7FB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069080" y="2770632"/>
            <a:ext cx="2029968" cy="27432"/>
          </a:xfrm>
          <a:prstGeom prst="rect">
            <a:avLst/>
          </a:prstGeom>
          <a:solidFill>
            <a:srgbClr val="00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60520" y="2907792"/>
            <a:ext cx="1847088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007C7C"/>
                </a:solidFill>
                <a:latin typeface="微软雅黑"/>
              </a:defRPr>
            </a:pPr>
            <a:r>
              <a:t>安全服务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60520" y="3227832"/>
            <a:ext cx="1847088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安全运营、渗透测试</a:t>
            </a:r>
            <a:br/>
            <a:r>
              <a:t>城市安全运营"长沙模式"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4160520" y="3822192"/>
            <a:ext cx="1847088" cy="0"/>
          </a:xfrm>
          <a:prstGeom prst="line">
            <a:avLst/>
          </a:prstGeom>
          <a:ln w="635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4160520" y="3886200"/>
            <a:ext cx="1847088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007C7C"/>
                </a:solidFill>
                <a:latin typeface="微软雅黑"/>
              </a:defRPr>
            </a:pPr>
            <a:r>
              <a:t>奇安信 · 安恒信息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72200" y="2770632"/>
            <a:ext cx="2029968" cy="1508760"/>
          </a:xfrm>
          <a:prstGeom prst="rect">
            <a:avLst/>
          </a:prstGeom>
          <a:solidFill>
            <a:srgbClr val="F4F7FB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172200" y="2770632"/>
            <a:ext cx="2029968" cy="27432"/>
          </a:xfrm>
          <a:prstGeom prst="rect">
            <a:avLst/>
          </a:prstGeom>
          <a:solidFill>
            <a:srgbClr val="00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63640" y="2907792"/>
            <a:ext cx="1847088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007C7C"/>
                </a:solidFill>
                <a:latin typeface="微软雅黑"/>
              </a:defRPr>
            </a:pPr>
            <a:r>
              <a:t>信创整机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63640" y="3227832"/>
            <a:ext cx="1847088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国产服务器、PC整机</a:t>
            </a:r>
            <a:br/>
            <a:r>
              <a:t>信创整机占国产市场65%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263640" y="3822192"/>
            <a:ext cx="1847088" cy="0"/>
          </a:xfrm>
          <a:prstGeom prst="line">
            <a:avLst/>
          </a:prstGeom>
          <a:ln w="635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6263640" y="3886200"/>
            <a:ext cx="1847088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007C7C"/>
                </a:solidFill>
                <a:latin typeface="微软雅黑"/>
              </a:defRPr>
            </a:pPr>
            <a:r>
              <a:t>中国长城 · 湘江鲲鹏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275320" y="2770632"/>
            <a:ext cx="2029968" cy="1508760"/>
          </a:xfrm>
          <a:prstGeom prst="rect">
            <a:avLst/>
          </a:prstGeom>
          <a:solidFill>
            <a:srgbClr val="F4F7FB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275320" y="2770632"/>
            <a:ext cx="2029968" cy="27432"/>
          </a:xfrm>
          <a:prstGeom prst="rect">
            <a:avLst/>
          </a:prstGeom>
          <a:solidFill>
            <a:srgbClr val="00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66760" y="2907792"/>
            <a:ext cx="1847088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007C7C"/>
                </a:solidFill>
                <a:latin typeface="微软雅黑"/>
              </a:defRPr>
            </a:pPr>
            <a:r>
              <a:t>数据安全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66760" y="3227832"/>
            <a:ext cx="1847088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数据加密、隐私计算</a:t>
            </a:r>
            <a:br/>
            <a:r>
              <a:t>数据脱敏、数据治理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8366760" y="3822192"/>
            <a:ext cx="1847088" cy="0"/>
          </a:xfrm>
          <a:prstGeom prst="line">
            <a:avLst/>
          </a:prstGeom>
          <a:ln w="635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8366760" y="3886200"/>
            <a:ext cx="1847088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007C7C"/>
                </a:solidFill>
                <a:latin typeface="微软雅黑"/>
              </a:defRPr>
            </a:pPr>
            <a:r>
              <a:t>科创信息 · 麒麟信安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378440" y="2770632"/>
            <a:ext cx="2029968" cy="1508760"/>
          </a:xfrm>
          <a:prstGeom prst="rect">
            <a:avLst/>
          </a:prstGeom>
          <a:solidFill>
            <a:srgbClr val="F4F7FB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378440" y="2770632"/>
            <a:ext cx="2029968" cy="27432"/>
          </a:xfrm>
          <a:prstGeom prst="rect">
            <a:avLst/>
          </a:prstGeom>
          <a:solidFill>
            <a:srgbClr val="00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469880" y="2907792"/>
            <a:ext cx="1847088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007C7C"/>
                </a:solidFill>
                <a:latin typeface="微软雅黑"/>
              </a:defRPr>
            </a:pPr>
            <a:r>
              <a:t>安全集成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469880" y="3227832"/>
            <a:ext cx="1847088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等保测评、系统集成</a:t>
            </a:r>
            <a:br/>
            <a:r>
              <a:t>行业解决方案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10469880" y="3822192"/>
            <a:ext cx="1847088" cy="0"/>
          </a:xfrm>
          <a:prstGeom prst="line">
            <a:avLst/>
          </a:prstGeom>
          <a:ln w="635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0469880" y="3886200"/>
            <a:ext cx="1847088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007C7C"/>
                </a:solidFill>
                <a:latin typeface="微软雅黑"/>
              </a:defRPr>
            </a:pPr>
            <a:r>
              <a:t>湘邮科技 · 创智和宇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40080" y="4489704"/>
            <a:ext cx="1188720" cy="1508760"/>
          </a:xfrm>
          <a:prstGeom prst="rect">
            <a:avLst/>
          </a:prstGeom>
          <a:solidFill>
            <a:srgbClr val="D4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0080" y="4764024"/>
            <a:ext cx="118872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下游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0080" y="5266944"/>
            <a:ext cx="11887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D0E0F0"/>
                </a:solidFill>
                <a:latin typeface="微软雅黑"/>
              </a:defRPr>
            </a:pPr>
            <a:r>
              <a:t>行业应用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965960" y="4489704"/>
            <a:ext cx="2029968" cy="1508760"/>
          </a:xfrm>
          <a:prstGeom prst="rect">
            <a:avLst/>
          </a:prstGeom>
          <a:solidFill>
            <a:srgbClr val="F4F7FB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965960" y="4489704"/>
            <a:ext cx="2029968" cy="27432"/>
          </a:xfrm>
          <a:prstGeom prst="rect">
            <a:avLst/>
          </a:prstGeom>
          <a:solidFill>
            <a:srgbClr val="D4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057400" y="4626864"/>
            <a:ext cx="1847088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D46A1A"/>
                </a:solidFill>
                <a:latin typeface="微软雅黑"/>
              </a:defRPr>
            </a:pPr>
            <a:r>
              <a:t>党政信创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057400" y="4946904"/>
            <a:ext cx="1847088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电子政务安全、国产替代</a:t>
            </a:r>
            <a:br/>
            <a:r>
              <a:t>党政机关安全办公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2057400" y="5541264"/>
            <a:ext cx="1847088" cy="0"/>
          </a:xfrm>
          <a:prstGeom prst="line">
            <a:avLst/>
          </a:prstGeom>
          <a:ln w="635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2057400" y="5605272"/>
            <a:ext cx="1847088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D46A1A"/>
                </a:solidFill>
                <a:latin typeface="微软雅黑"/>
              </a:defRPr>
            </a:pPr>
            <a:r>
              <a:t>麒麟 · 长城 · 奇安信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069080" y="4489704"/>
            <a:ext cx="2029968" cy="1508760"/>
          </a:xfrm>
          <a:prstGeom prst="rect">
            <a:avLst/>
          </a:prstGeom>
          <a:solidFill>
            <a:srgbClr val="F4F7FB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069080" y="4489704"/>
            <a:ext cx="2029968" cy="27432"/>
          </a:xfrm>
          <a:prstGeom prst="rect">
            <a:avLst/>
          </a:prstGeom>
          <a:solidFill>
            <a:srgbClr val="D4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160520" y="4626864"/>
            <a:ext cx="1847088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D46A1A"/>
                </a:solidFill>
                <a:latin typeface="微软雅黑"/>
              </a:defRPr>
            </a:pPr>
            <a:r>
              <a:t>金融安全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160520" y="4946904"/>
            <a:ext cx="1847088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金融信创、安全交易</a:t>
            </a:r>
            <a:br/>
            <a:r>
              <a:t>金融行业等保合规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4160520" y="5541264"/>
            <a:ext cx="1847088" cy="0"/>
          </a:xfrm>
          <a:prstGeom prst="line">
            <a:avLst/>
          </a:prstGeom>
          <a:ln w="635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4160520" y="5605272"/>
            <a:ext cx="1847088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D46A1A"/>
                </a:solidFill>
                <a:latin typeface="微软雅黑"/>
              </a:defRPr>
            </a:pPr>
            <a:r>
              <a:t>麒麟信安 · 长沙银行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172200" y="4489704"/>
            <a:ext cx="2029968" cy="1508760"/>
          </a:xfrm>
          <a:prstGeom prst="rect">
            <a:avLst/>
          </a:prstGeom>
          <a:solidFill>
            <a:srgbClr val="F4F7FB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172200" y="4489704"/>
            <a:ext cx="2029968" cy="27432"/>
          </a:xfrm>
          <a:prstGeom prst="rect">
            <a:avLst/>
          </a:prstGeom>
          <a:solidFill>
            <a:srgbClr val="D4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263640" y="4626864"/>
            <a:ext cx="1847088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D46A1A"/>
                </a:solidFill>
                <a:latin typeface="微软雅黑"/>
              </a:defRPr>
            </a:pPr>
            <a:r>
              <a:t>能源电力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263640" y="4946904"/>
            <a:ext cx="1847088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电力监控系统安全</a:t>
            </a:r>
            <a:br/>
            <a:r>
              <a:t>麒麟信安电力行业深耕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6263640" y="5541264"/>
            <a:ext cx="1847088" cy="0"/>
          </a:xfrm>
          <a:prstGeom prst="line">
            <a:avLst/>
          </a:prstGeom>
          <a:ln w="635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6263640" y="5605272"/>
            <a:ext cx="1847088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D46A1A"/>
                </a:solidFill>
                <a:latin typeface="微软雅黑"/>
              </a:defRPr>
            </a:pPr>
            <a:r>
              <a:t>麒麟信安 · 国网湖南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275320" y="4489704"/>
            <a:ext cx="2029968" cy="1508760"/>
          </a:xfrm>
          <a:prstGeom prst="rect">
            <a:avLst/>
          </a:prstGeom>
          <a:solidFill>
            <a:srgbClr val="F4F7FB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275320" y="4489704"/>
            <a:ext cx="2029968" cy="27432"/>
          </a:xfrm>
          <a:prstGeom prst="rect">
            <a:avLst/>
          </a:prstGeom>
          <a:solidFill>
            <a:srgbClr val="D4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366760" y="4626864"/>
            <a:ext cx="1847088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D46A1A"/>
                </a:solidFill>
                <a:latin typeface="微软雅黑"/>
              </a:defRPr>
            </a:pPr>
            <a:r>
              <a:t>电信与算力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366760" y="4946904"/>
            <a:ext cx="1847088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5G安全、算力网络安全</a:t>
            </a:r>
            <a:br/>
            <a:r>
              <a:t>长株潭+东江湖算力集群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8366760" y="5541264"/>
            <a:ext cx="1847088" cy="0"/>
          </a:xfrm>
          <a:prstGeom prst="line">
            <a:avLst/>
          </a:prstGeom>
          <a:ln w="635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8366760" y="5605272"/>
            <a:ext cx="1847088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D46A1A"/>
                </a:solidFill>
                <a:latin typeface="微软雅黑"/>
              </a:defRPr>
            </a:pPr>
            <a:r>
              <a:t>中国电信 · 曙光云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378440" y="4489704"/>
            <a:ext cx="2029968" cy="1508760"/>
          </a:xfrm>
          <a:prstGeom prst="rect">
            <a:avLst/>
          </a:prstGeom>
          <a:solidFill>
            <a:srgbClr val="F4F7FB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378440" y="4489704"/>
            <a:ext cx="2029968" cy="27432"/>
          </a:xfrm>
          <a:prstGeom prst="rect">
            <a:avLst/>
          </a:prstGeom>
          <a:solidFill>
            <a:srgbClr val="D4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469880" y="4626864"/>
            <a:ext cx="1847088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D46A1A"/>
                </a:solidFill>
                <a:latin typeface="微软雅黑"/>
              </a:defRPr>
            </a:pPr>
            <a:r>
              <a:t>医疗教育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469880" y="4946904"/>
            <a:ext cx="1847088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医疗信创平台、教育信息化</a:t>
            </a:r>
            <a:br/>
            <a:r>
              <a:t>移动医疗安全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10469880" y="5541264"/>
            <a:ext cx="1847088" cy="0"/>
          </a:xfrm>
          <a:prstGeom prst="line">
            <a:avLst/>
          </a:prstGeom>
          <a:ln w="635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10469880" y="5605272"/>
            <a:ext cx="1847088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D46A1A"/>
                </a:solidFill>
                <a:latin typeface="微软雅黑"/>
              </a:defRPr>
            </a:pPr>
            <a:r>
              <a:t>中南大学湘雅 · 创智和宇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2286000"/>
            <a:ext cx="100584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400" b="1">
                <a:solidFill>
                  <a:srgbClr val="003D6B"/>
                </a:solidFill>
                <a:latin typeface="微软雅黑"/>
              </a:defRPr>
            </a:pPr>
            <a:r>
              <a:t>区域布局与产业集聚区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841248"/>
            <a:ext cx="10972800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320040"/>
            <a:ext cx="109728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AAAAB8"/>
                </a:solidFill>
                <a:latin typeface="微软雅黑"/>
              </a:defRPr>
            </a:pPr>
            <a:r>
              <a:t>4 / 9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492240"/>
            <a:ext cx="10972800" cy="0"/>
          </a:xfrm>
          <a:prstGeom prst="line">
            <a:avLst/>
          </a:prstGeom>
          <a:ln w="635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537960"/>
            <a:ext cx="731520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湖南省网络安全产业全景图  |  2026年度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37960"/>
            <a:ext cx="320040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基于公开信息整理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051560"/>
            <a:ext cx="365760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051560"/>
            <a:ext cx="54864" cy="2423160"/>
          </a:xfrm>
          <a:prstGeom prst="rect">
            <a:avLst/>
          </a:prstGeom>
          <a:solidFill>
            <a:srgbClr val="00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161288"/>
            <a:ext cx="228600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003D6B"/>
                </a:solidFill>
                <a:latin typeface="微软雅黑"/>
              </a:defRPr>
            </a:pPr>
            <a:r>
              <a:t>国家网安产业园（全国第二）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399032"/>
            <a:ext cx="1828800" cy="411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600" b="1">
                <a:solidFill>
                  <a:srgbClr val="2C2C2C"/>
                </a:solidFill>
                <a:latin typeface="微软雅黑"/>
              </a:defRPr>
            </a:pPr>
            <a:r>
              <a:t>长沙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463040"/>
            <a:ext cx="128016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003D6B"/>
                </a:solidFill>
                <a:latin typeface="微软雅黑"/>
              </a:defRPr>
            </a:pPr>
            <a:r>
              <a:t>产值2300亿+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1920240"/>
            <a:ext cx="33832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7A7A8A"/>
                </a:solidFill>
                <a:latin typeface="微软雅黑"/>
              </a:defRPr>
            </a:pPr>
            <a:r>
              <a:t>信创整机65%国产市场 · 自主安全计算集群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22960" y="2240280"/>
            <a:ext cx="3291840" cy="0"/>
          </a:xfrm>
          <a:prstGeom prst="line">
            <a:avLst/>
          </a:prstGeom>
          <a:ln w="635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2960" y="2331720"/>
            <a:ext cx="3383280" cy="10058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奇安信 · 深信服 · 中国长城 · 湘江鲲鹏 · 麒麟软件 · 麒麟信安 · 国科微 · 景嘉微 · 拓维信息 · 科创信息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16552" y="1051560"/>
            <a:ext cx="365760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16552" y="1051560"/>
            <a:ext cx="54864" cy="2423160"/>
          </a:xfrm>
          <a:prstGeom prst="rect">
            <a:avLst/>
          </a:prstGeom>
          <a:solidFill>
            <a:srgbClr val="00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9432" y="1161288"/>
            <a:ext cx="228600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007C7C"/>
                </a:solidFill>
                <a:latin typeface="微软雅黑"/>
              </a:defRPr>
            </a:pPr>
            <a:r>
              <a:t>功率半导体+智能终端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2" y="1399032"/>
            <a:ext cx="1828800" cy="411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600" b="1">
                <a:solidFill>
                  <a:srgbClr val="2C2C2C"/>
                </a:solidFill>
                <a:latin typeface="微软雅黑"/>
              </a:defRPr>
            </a:pPr>
            <a:r>
              <a:t>株洲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2552" y="1463040"/>
            <a:ext cx="128016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007C7C"/>
                </a:solidFill>
                <a:latin typeface="微软雅黑"/>
              </a:defRPr>
            </a:pPr>
            <a:r>
              <a:t>220+企业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9432" y="1920240"/>
            <a:ext cx="33832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7A7A8A"/>
                </a:solidFill>
                <a:latin typeface="微软雅黑"/>
              </a:defRPr>
            </a:pPr>
            <a:r>
              <a:t>中低压功率器件 · 智能终端制造基地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99432" y="2240280"/>
            <a:ext cx="3291840" cy="0"/>
          </a:xfrm>
          <a:prstGeom prst="line">
            <a:avLst/>
          </a:prstGeom>
          <a:ln w="635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99432" y="2331720"/>
            <a:ext cx="3383280" cy="10058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中车时代半导体 · 三一硅能 · 赛德雷特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93024" y="1051560"/>
            <a:ext cx="365760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93024" y="1051560"/>
            <a:ext cx="54864" cy="2423160"/>
          </a:xfrm>
          <a:prstGeom prst="rect">
            <a:avLst/>
          </a:prstGeom>
          <a:solidFill>
            <a:srgbClr val="D4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75904" y="1161288"/>
            <a:ext cx="228600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D46A1A"/>
                </a:solidFill>
                <a:latin typeface="微软雅黑"/>
              </a:defRPr>
            </a:pPr>
            <a:r>
              <a:t>产业转化基地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75904" y="1399032"/>
            <a:ext cx="1828800" cy="411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600" b="1">
                <a:solidFill>
                  <a:srgbClr val="2C2C2C"/>
                </a:solidFill>
                <a:latin typeface="微软雅黑"/>
              </a:defRPr>
            </a:pPr>
            <a:r>
              <a:t>湘潭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79024" y="1463040"/>
            <a:ext cx="128016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D46A1A"/>
                </a:solidFill>
                <a:latin typeface="微软雅黑"/>
              </a:defRPr>
            </a:pPr>
            <a:r>
              <a:t>23.8亿投资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75904" y="1920240"/>
            <a:ext cx="33832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7A7A8A"/>
                </a:solidFill>
                <a:latin typeface="微软雅黑"/>
              </a:defRPr>
            </a:pPr>
            <a:r>
              <a:t>半导体制造 · 智能装备 · 产学研转化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375904" y="2240280"/>
            <a:ext cx="3291840" cy="0"/>
          </a:xfrm>
          <a:prstGeom prst="line">
            <a:avLst/>
          </a:prstGeom>
          <a:ln w="635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375904" y="2331720"/>
            <a:ext cx="3383280" cy="10058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湘潭智造基地 · 锦智光电 · 蓝思智能终端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3639312"/>
            <a:ext cx="365760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" y="3639312"/>
            <a:ext cx="54864" cy="2423160"/>
          </a:xfrm>
          <a:prstGeom prst="rect">
            <a:avLst/>
          </a:prstGeom>
          <a:solidFill>
            <a:srgbClr val="2E8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3749040"/>
            <a:ext cx="228600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2E864B"/>
                </a:solidFill>
                <a:latin typeface="微软雅黑"/>
              </a:defRPr>
            </a:pPr>
            <a:r>
              <a:t>存储与智能终端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3986784"/>
            <a:ext cx="1828800" cy="411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600" b="1">
                <a:solidFill>
                  <a:srgbClr val="2C2C2C"/>
                </a:solidFill>
                <a:latin typeface="微软雅黑"/>
              </a:defRPr>
            </a:pPr>
            <a:r>
              <a:t>衡阳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80" y="4050792"/>
            <a:ext cx="128016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E864B"/>
                </a:solidFill>
                <a:latin typeface="微软雅黑"/>
              </a:defRPr>
            </a:pPr>
            <a:r>
              <a:t>衡州大道数字经济带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4507992"/>
            <a:ext cx="33832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7A7A8A"/>
                </a:solidFill>
                <a:latin typeface="微软雅黑"/>
              </a:defRPr>
            </a:pPr>
            <a:r>
              <a:t>白沙洲工业园 · 存储产业差异化定位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22960" y="4828032"/>
            <a:ext cx="3291840" cy="0"/>
          </a:xfrm>
          <a:prstGeom prst="line">
            <a:avLst/>
          </a:prstGeom>
          <a:ln w="635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22960" y="4919472"/>
            <a:ext cx="3383280" cy="10058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衡阳白沙洲 · 智能终端制造 · 数字经济走廊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16552" y="3639312"/>
            <a:ext cx="365760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16552" y="3639312"/>
            <a:ext cx="54864" cy="24231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99432" y="3749040"/>
            <a:ext cx="228600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C0392B"/>
                </a:solidFill>
                <a:latin typeface="微软雅黑"/>
              </a:defRPr>
            </a:pPr>
            <a:r>
              <a:t>东江湖算力集群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99432" y="3986784"/>
            <a:ext cx="1828800" cy="411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600" b="1">
                <a:solidFill>
                  <a:srgbClr val="2C2C2C"/>
                </a:solidFill>
                <a:latin typeface="微软雅黑"/>
              </a:defRPr>
            </a:pPr>
            <a:r>
              <a:t>郴州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02552" y="4050792"/>
            <a:ext cx="128016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C0392B"/>
                </a:solidFill>
                <a:latin typeface="微软雅黑"/>
              </a:defRPr>
            </a:pPr>
            <a:r>
              <a:t>省级算力集群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99432" y="4507992"/>
            <a:ext cx="33832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7A7A8A"/>
                </a:solidFill>
                <a:latin typeface="微软雅黑"/>
              </a:defRPr>
            </a:pPr>
            <a:r>
              <a:t>郴州东江湖大数据中心 · 算力节点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599432" y="4828032"/>
            <a:ext cx="3291840" cy="0"/>
          </a:xfrm>
          <a:prstGeom prst="line">
            <a:avLst/>
          </a:prstGeom>
          <a:ln w="635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599432" y="4919472"/>
            <a:ext cx="3383280" cy="10058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东江湖数据中心 · 湾区产业承接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93024" y="3639312"/>
            <a:ext cx="365760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93024" y="3639312"/>
            <a:ext cx="54864" cy="2423160"/>
          </a:xfrm>
          <a:prstGeom prst="rect">
            <a:avLst/>
          </a:prstGeom>
          <a:solidFill>
            <a:srgbClr val="6C3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75904" y="3749040"/>
            <a:ext cx="228600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6C3480"/>
                </a:solidFill>
                <a:latin typeface="微软雅黑"/>
              </a:defRPr>
            </a:pPr>
            <a:r>
              <a:t>电子元器件配套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75904" y="3986784"/>
            <a:ext cx="1828800" cy="411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600" b="1">
                <a:solidFill>
                  <a:srgbClr val="2C2C2C"/>
                </a:solidFill>
                <a:latin typeface="微软雅黑"/>
              </a:defRPr>
            </a:pPr>
            <a:r>
              <a:t>益阳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79024" y="4050792"/>
            <a:ext cx="128016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6C3480"/>
                </a:solidFill>
                <a:latin typeface="微软雅黑"/>
              </a:defRPr>
            </a:pPr>
            <a:r>
              <a:t>86项专利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75904" y="4507992"/>
            <a:ext cx="33832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7A7A8A"/>
                </a:solidFill>
                <a:latin typeface="微软雅黑"/>
              </a:defRPr>
            </a:pPr>
            <a:r>
              <a:t>高端电子元器件 · 光通信器件 · 线路板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8375904" y="4828032"/>
            <a:ext cx="3291840" cy="0"/>
          </a:xfrm>
          <a:prstGeom prst="line">
            <a:avLst/>
          </a:prstGeom>
          <a:ln w="635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375904" y="4919472"/>
            <a:ext cx="3383280" cy="10058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信维电科 · 光智通信 · 江丰电子 · 明正宏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2286000"/>
            <a:ext cx="100584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400" b="1">
                <a:solidFill>
                  <a:srgbClr val="003D6B"/>
                </a:solidFill>
                <a:latin typeface="微软雅黑"/>
              </a:defRPr>
            </a:pPr>
            <a:r>
              <a:t>龙头与重点企业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841248"/>
            <a:ext cx="10972800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320040"/>
            <a:ext cx="109728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AAAAB8"/>
                </a:solidFill>
                <a:latin typeface="微软雅黑"/>
              </a:defRPr>
            </a:pPr>
            <a:r>
              <a:t>5 / 9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492240"/>
            <a:ext cx="10972800" cy="0"/>
          </a:xfrm>
          <a:prstGeom prst="line">
            <a:avLst/>
          </a:prstGeom>
          <a:ln w="635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537960"/>
            <a:ext cx="731520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湖南省网络安全产业全景图  |  2026年度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37960"/>
            <a:ext cx="320040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基于公开信息整理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005840"/>
            <a:ext cx="27889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005840"/>
            <a:ext cx="36576" cy="12344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060704"/>
            <a:ext cx="26060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奇安信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335024"/>
            <a:ext cx="2606040" cy="182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长沙·国家网安产业园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536192"/>
            <a:ext cx="260604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800" b="0">
                <a:solidFill>
                  <a:srgbClr val="4A4A4A"/>
                </a:solidFill>
                <a:latin typeface="微软雅黑"/>
              </a:defRPr>
            </a:pPr>
            <a:r>
              <a:t>湖南本地最大网安企业，累计投入超8亿元，5亿元长沙奇安基金，Q-GPT安全机器人国内第一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011680"/>
            <a:ext cx="1097280" cy="182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1">
                <a:solidFill>
                  <a:srgbClr val="C0392B"/>
                </a:solidFill>
                <a:latin typeface="微软雅黑"/>
              </a:defRPr>
            </a:pPr>
            <a:r>
              <a:t>湖南最大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20440" y="1005840"/>
            <a:ext cx="27889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20440" y="1005840"/>
            <a:ext cx="36576" cy="12344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0168" y="1060704"/>
            <a:ext cx="26060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深信服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0168" y="1335024"/>
            <a:ext cx="2606040" cy="182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长沙·研发中心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0168" y="1536192"/>
            <a:ext cx="260604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800" b="0">
                <a:solidFill>
                  <a:srgbClr val="4A4A4A"/>
                </a:solidFill>
                <a:latin typeface="微软雅黑"/>
              </a:defRPr>
            </a:pPr>
            <a:r>
              <a:t>深信服长沙研发中心，网络安全+云计算+AI，深度参与长沙网安产业园建设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0168" y="2011680"/>
            <a:ext cx="1097280" cy="182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1">
                <a:solidFill>
                  <a:srgbClr val="C0392B"/>
                </a:solidFill>
                <a:latin typeface="微软雅黑"/>
              </a:defRPr>
            </a:pPr>
            <a:r>
              <a:t>巨头布局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005840"/>
            <a:ext cx="27889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1005840"/>
            <a:ext cx="36576" cy="12344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1060704"/>
            <a:ext cx="26060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中国长城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1335024"/>
            <a:ext cx="2606040" cy="182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长沙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1536192"/>
            <a:ext cx="260604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800" b="0">
                <a:solidFill>
                  <a:srgbClr val="4A4A4A"/>
                </a:solidFill>
                <a:latin typeface="微软雅黑"/>
              </a:defRPr>
            </a:pPr>
            <a:r>
              <a:t>国产整机龙头，PK体系核心厂商，信创整机国产市场市占率领先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8" y="2011680"/>
            <a:ext cx="1097280" cy="182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1">
                <a:solidFill>
                  <a:srgbClr val="C0392B"/>
                </a:solidFill>
                <a:latin typeface="微软雅黑"/>
              </a:defRPr>
            </a:pPr>
            <a:r>
              <a:t>央企龙头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81160" y="1005840"/>
            <a:ext cx="27889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281160" y="1005840"/>
            <a:ext cx="36576" cy="12344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90888" y="1060704"/>
            <a:ext cx="26060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麒麟软件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90888" y="1335024"/>
            <a:ext cx="2606040" cy="182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长沙·分公司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90888" y="1536192"/>
            <a:ext cx="260604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800" b="0">
                <a:solidFill>
                  <a:srgbClr val="4A4A4A"/>
                </a:solidFill>
                <a:latin typeface="微软雅黑"/>
              </a:defRPr>
            </a:pPr>
            <a:r>
              <a:t>国产操作系统龙头（天津总部），麒麟OS为核心，"两芯一生态"体系基石，长沙520人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90888" y="2011680"/>
            <a:ext cx="1097280" cy="182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1">
                <a:solidFill>
                  <a:srgbClr val="C0392B"/>
                </a:solidFill>
                <a:latin typeface="微软雅黑"/>
              </a:defRPr>
            </a:pPr>
            <a:r>
              <a:t>"两芯一生态"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2331720"/>
            <a:ext cx="27889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" y="2331720"/>
            <a:ext cx="36576" cy="1234440"/>
          </a:xfrm>
          <a:prstGeom prst="rect">
            <a:avLst/>
          </a:prstGeom>
          <a:solidFill>
            <a:srgbClr val="D4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2386584"/>
            <a:ext cx="26060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湘江鲲鹏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2660904"/>
            <a:ext cx="2606040" cy="182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长沙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2862072"/>
            <a:ext cx="260604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800" b="0">
                <a:solidFill>
                  <a:srgbClr val="4A4A4A"/>
                </a:solidFill>
                <a:latin typeface="微软雅黑"/>
              </a:defRPr>
            </a:pPr>
            <a:r>
              <a:t>华为鲲鹏生态核心伙伴（拓维信息控股90%），国产服务器/PC整机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8" y="3337560"/>
            <a:ext cx="1097280" cy="182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1">
                <a:solidFill>
                  <a:srgbClr val="D46A1A"/>
                </a:solidFill>
                <a:latin typeface="微软雅黑"/>
              </a:defRPr>
            </a:pPr>
            <a:r>
              <a:t>鲲鹏生态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20440" y="2331720"/>
            <a:ext cx="27889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520440" y="2331720"/>
            <a:ext cx="36576" cy="1234440"/>
          </a:xfrm>
          <a:prstGeom prst="rect">
            <a:avLst/>
          </a:prstGeom>
          <a:solidFill>
            <a:srgbClr val="B88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30168" y="2386584"/>
            <a:ext cx="26060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麒麟信安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30168" y="2660904"/>
            <a:ext cx="2606040" cy="182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长沙·高新区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30168" y="2862072"/>
            <a:ext cx="260604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800" b="0">
                <a:solidFill>
                  <a:srgbClr val="4A4A4A"/>
                </a:solidFill>
                <a:latin typeface="微软雅黑"/>
              </a:defRPr>
            </a:pPr>
            <a:r>
              <a:t>科创板上市(688152)，2025营收3.1亿，操作系统+信息安全+云计算三位一体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30168" y="3337560"/>
            <a:ext cx="1097280" cy="182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1">
                <a:solidFill>
                  <a:srgbClr val="B8860A"/>
                </a:solidFill>
                <a:latin typeface="微软雅黑"/>
              </a:defRPr>
            </a:pPr>
            <a:r>
              <a:t>上市企业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2331720"/>
            <a:ext cx="27889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00800" y="2331720"/>
            <a:ext cx="36576" cy="1234440"/>
          </a:xfrm>
          <a:prstGeom prst="rect">
            <a:avLst/>
          </a:prstGeom>
          <a:solidFill>
            <a:srgbClr val="00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10528" y="2386584"/>
            <a:ext cx="26060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国科微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10528" y="2660904"/>
            <a:ext cx="2606040" cy="182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长沙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10528" y="2862072"/>
            <a:ext cx="260604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800" b="0">
                <a:solidFill>
                  <a:srgbClr val="4A4A4A"/>
                </a:solidFill>
                <a:latin typeface="微软雅黑"/>
              </a:defRPr>
            </a:pPr>
            <a:r>
              <a:t>国产SSD控制器芯片龙头，"七大类芯片"之一，国家级专精特新小巨人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10528" y="3337560"/>
            <a:ext cx="1097280" cy="182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1">
                <a:solidFill>
                  <a:srgbClr val="007C7C"/>
                </a:solidFill>
                <a:latin typeface="微软雅黑"/>
              </a:defRPr>
            </a:pPr>
            <a:r>
              <a:t>芯片龙头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281160" y="2331720"/>
            <a:ext cx="27889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281160" y="2331720"/>
            <a:ext cx="36576" cy="1234440"/>
          </a:xfrm>
          <a:prstGeom prst="rect">
            <a:avLst/>
          </a:prstGeom>
          <a:solidFill>
            <a:srgbClr val="00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90888" y="2386584"/>
            <a:ext cx="26060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景嘉微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90888" y="2660904"/>
            <a:ext cx="2606040" cy="182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长沙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90888" y="2862072"/>
            <a:ext cx="260604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800" b="0">
                <a:solidFill>
                  <a:srgbClr val="4A4A4A"/>
                </a:solidFill>
                <a:latin typeface="微软雅黑"/>
              </a:defRPr>
            </a:pPr>
            <a:r>
              <a:t>国产GPU龙头，军民融合，"两芯一生态"体系GPU芯片唯一提供商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90888" y="3337560"/>
            <a:ext cx="1097280" cy="182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1">
                <a:solidFill>
                  <a:srgbClr val="007C7C"/>
                </a:solidFill>
                <a:latin typeface="微软雅黑"/>
              </a:defRPr>
            </a:pPr>
            <a:r>
              <a:t>芯片龙头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" y="3657600"/>
            <a:ext cx="27889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40080" y="3657600"/>
            <a:ext cx="36576" cy="1234440"/>
          </a:xfrm>
          <a:prstGeom prst="rect">
            <a:avLst/>
          </a:prstGeom>
          <a:solidFill>
            <a:srgbClr val="2E8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49808" y="3712464"/>
            <a:ext cx="26060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拓维信息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9808" y="3986784"/>
            <a:ext cx="2606040" cy="182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长沙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9808" y="4187952"/>
            <a:ext cx="260604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800" b="0">
                <a:solidFill>
                  <a:srgbClr val="4A4A4A"/>
                </a:solidFill>
                <a:latin typeface="微软雅黑"/>
              </a:defRPr>
            </a:pPr>
            <a:r>
              <a:t>华为鲲鹏/昇腾生态核心ISV，智慧教育+智慧交通+信创安全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9808" y="4663440"/>
            <a:ext cx="1097280" cy="182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1">
                <a:solidFill>
                  <a:srgbClr val="2E864B"/>
                </a:solidFill>
                <a:latin typeface="微软雅黑"/>
              </a:defRPr>
            </a:pPr>
            <a:r>
              <a:t>上市企业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520440" y="3657600"/>
            <a:ext cx="27889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520440" y="3657600"/>
            <a:ext cx="36576" cy="1234440"/>
          </a:xfrm>
          <a:prstGeom prst="rect">
            <a:avLst/>
          </a:prstGeom>
          <a:solidFill>
            <a:srgbClr val="2E8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30168" y="3712464"/>
            <a:ext cx="26060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科创信息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30168" y="3986784"/>
            <a:ext cx="2606040" cy="182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长沙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30168" y="4187952"/>
            <a:ext cx="260604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800" b="0">
                <a:solidFill>
                  <a:srgbClr val="4A4A4A"/>
                </a:solidFill>
                <a:latin typeface="微软雅黑"/>
              </a:defRPr>
            </a:pPr>
            <a:r>
              <a:t>智慧政务+数字政府龙头，国产大数据平台，信创安全解决方案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30168" y="4663440"/>
            <a:ext cx="1097280" cy="182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1">
                <a:solidFill>
                  <a:srgbClr val="2E864B"/>
                </a:solidFill>
                <a:latin typeface="微软雅黑"/>
              </a:defRPr>
            </a:pPr>
            <a:r>
              <a:t>本土龙头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00800" y="3657600"/>
            <a:ext cx="27889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400800" y="3657600"/>
            <a:ext cx="36576" cy="1234440"/>
          </a:xfrm>
          <a:prstGeom prst="rect">
            <a:avLst/>
          </a:prstGeom>
          <a:solidFill>
            <a:srgbClr val="2E8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510528" y="3712464"/>
            <a:ext cx="26060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湘邮科技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10528" y="3986784"/>
            <a:ext cx="2606040" cy="182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长沙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10528" y="4187952"/>
            <a:ext cx="260604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800" b="0">
                <a:solidFill>
                  <a:srgbClr val="4A4A4A"/>
                </a:solidFill>
                <a:latin typeface="微软雅黑"/>
              </a:defRPr>
            </a:pPr>
            <a:r>
              <a:t>邮政行业信息化龙头，信创安全集成服务，数据安全合规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10528" y="4663440"/>
            <a:ext cx="1097280" cy="182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1">
                <a:solidFill>
                  <a:srgbClr val="2E864B"/>
                </a:solidFill>
                <a:latin typeface="微软雅黑"/>
              </a:defRPr>
            </a:pPr>
            <a:r>
              <a:t>本土龙头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281160" y="3657600"/>
            <a:ext cx="27889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281160" y="3657600"/>
            <a:ext cx="36576" cy="1234440"/>
          </a:xfrm>
          <a:prstGeom prst="rect">
            <a:avLst/>
          </a:prstGeom>
          <a:solidFill>
            <a:srgbClr val="D4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390888" y="3712464"/>
            <a:ext cx="26060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飞腾信息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390888" y="3986784"/>
            <a:ext cx="2606040" cy="182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长沙·研发中心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390888" y="4187952"/>
            <a:ext cx="260604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800" b="0">
                <a:solidFill>
                  <a:srgbClr val="4A4A4A"/>
                </a:solidFill>
                <a:latin typeface="微软雅黑"/>
              </a:defRPr>
            </a:pPr>
            <a:r>
              <a:t>国产CPU龙头（天津总部），飞腾CPU为"两芯一生态"核心之一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390888" y="4663440"/>
            <a:ext cx="1097280" cy="182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1">
                <a:solidFill>
                  <a:srgbClr val="D46A1A"/>
                </a:solidFill>
                <a:latin typeface="微软雅黑"/>
              </a:defRPr>
            </a:pPr>
            <a:r>
              <a:t>"两芯一生态"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40080" y="4983480"/>
            <a:ext cx="27889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40080" y="4983480"/>
            <a:ext cx="36576" cy="1234440"/>
          </a:xfrm>
          <a:prstGeom prst="rect">
            <a:avLst/>
          </a:prstGeom>
          <a:solidFill>
            <a:srgbClr val="6C3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49808" y="5038344"/>
            <a:ext cx="26060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亚信安全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49808" y="5312664"/>
            <a:ext cx="2606040" cy="182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长沙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49808" y="5513832"/>
            <a:ext cx="260604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800" b="0">
                <a:solidFill>
                  <a:srgbClr val="4A4A4A"/>
                </a:solidFill>
                <a:latin typeface="微软雅黑"/>
              </a:defRPr>
            </a:pPr>
            <a:r>
              <a:t>身份安全+终端安全龙头，湖南信创安全生态核心参与者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49808" y="5989320"/>
            <a:ext cx="1097280" cy="182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1">
                <a:solidFill>
                  <a:srgbClr val="6C3480"/>
                </a:solidFill>
                <a:latin typeface="微软雅黑"/>
              </a:defRPr>
            </a:pPr>
            <a:r>
              <a:t>巨头布局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520440" y="4983480"/>
            <a:ext cx="27889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520440" y="4983480"/>
            <a:ext cx="36576" cy="1234440"/>
          </a:xfrm>
          <a:prstGeom prst="rect">
            <a:avLst/>
          </a:prstGeom>
          <a:solidFill>
            <a:srgbClr val="6C3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630168" y="5038344"/>
            <a:ext cx="26060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360安全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630168" y="5312664"/>
            <a:ext cx="2606040" cy="182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长沙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630168" y="5513832"/>
            <a:ext cx="260604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800" b="0">
                <a:solidFill>
                  <a:srgbClr val="4A4A4A"/>
                </a:solidFill>
                <a:latin typeface="微软雅黑"/>
              </a:defRPr>
            </a:pPr>
            <a:r>
              <a:t>数字安全服务商，长沙网安产业园入驻企业，政企安全业务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630168" y="5989320"/>
            <a:ext cx="1097280" cy="182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1">
                <a:solidFill>
                  <a:srgbClr val="6C3480"/>
                </a:solidFill>
                <a:latin typeface="微软雅黑"/>
              </a:defRPr>
            </a:pPr>
            <a:r>
              <a:t>巨头布局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400800" y="4983480"/>
            <a:ext cx="27889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400800" y="4983480"/>
            <a:ext cx="36576" cy="1234440"/>
          </a:xfrm>
          <a:prstGeom prst="rect">
            <a:avLst/>
          </a:prstGeom>
          <a:solidFill>
            <a:srgbClr val="00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510528" y="5038344"/>
            <a:ext cx="26060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创智和宇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510528" y="5312664"/>
            <a:ext cx="2606040" cy="182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长沙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510528" y="5513832"/>
            <a:ext cx="260604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800" b="0">
                <a:solidFill>
                  <a:srgbClr val="4A4A4A"/>
                </a:solidFill>
                <a:latin typeface="微软雅黑"/>
              </a:defRPr>
            </a:pPr>
            <a:r>
              <a:t>医疗信息化龙头，医疗信创安全解决方案，国产替代先行者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510528" y="5989320"/>
            <a:ext cx="1097280" cy="182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1">
                <a:solidFill>
                  <a:srgbClr val="007C7C"/>
                </a:solidFill>
                <a:latin typeface="微软雅黑"/>
              </a:defRPr>
            </a:pPr>
            <a:r>
              <a:t>本土龙头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281160" y="4983480"/>
            <a:ext cx="27889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281160" y="4983480"/>
            <a:ext cx="36576" cy="1234440"/>
          </a:xfrm>
          <a:prstGeom prst="rect">
            <a:avLst/>
          </a:prstGeom>
          <a:solidFill>
            <a:srgbClr val="6C3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390888" y="5038344"/>
            <a:ext cx="26060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安恒信息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390888" y="5312664"/>
            <a:ext cx="2606040" cy="182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长沙·研发中心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390888" y="5513832"/>
            <a:ext cx="260604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800" b="0">
                <a:solidFill>
                  <a:srgbClr val="4A4A4A"/>
                </a:solidFill>
                <a:latin typeface="微软雅黑"/>
              </a:defRPr>
            </a:pPr>
            <a:r>
              <a:t>态势感知+数据安全，长沙研发与服务团队，参与网安产业园建设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390888" y="5989320"/>
            <a:ext cx="1097280" cy="182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1">
                <a:solidFill>
                  <a:srgbClr val="6C3480"/>
                </a:solidFill>
                <a:latin typeface="微软雅黑"/>
              </a:defRPr>
            </a:pPr>
            <a:r>
              <a:t>巨头布局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2286000"/>
            <a:ext cx="100584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400" b="1">
                <a:solidFill>
                  <a:srgbClr val="003D6B"/>
                </a:solidFill>
                <a:latin typeface="微软雅黑"/>
              </a:defRPr>
            </a:pPr>
            <a:r>
              <a:t>创新平台与科研支撑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841248"/>
            <a:ext cx="10972800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320040"/>
            <a:ext cx="109728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AAAAB8"/>
                </a:solidFill>
                <a:latin typeface="微软雅黑"/>
              </a:defRPr>
            </a:pPr>
            <a:r>
              <a:t>6 / 9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492240"/>
            <a:ext cx="10972800" cy="0"/>
          </a:xfrm>
          <a:prstGeom prst="line">
            <a:avLst/>
          </a:prstGeom>
          <a:ln w="635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537960"/>
            <a:ext cx="731520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湖南省网络安全产业全景图  |  2026年度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37960"/>
            <a:ext cx="320040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基于公开信息整理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051560"/>
            <a:ext cx="3657600" cy="1536192"/>
          </a:xfrm>
          <a:prstGeom prst="rect">
            <a:avLst/>
          </a:prstGeom>
          <a:solidFill>
            <a:srgbClr val="F4F7FB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11887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0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188720"/>
            <a:ext cx="36576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Arial" panose="020B0604020202090204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188720"/>
            <a:ext cx="292608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2C2C2C"/>
                </a:solidFill>
                <a:latin typeface="微软雅黑"/>
              </a:defRPr>
            </a:pPr>
            <a:r>
              <a:t>国家网络安全产业园区（长沙）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691640"/>
            <a:ext cx="3383280" cy="8229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全国第二个获批，"一院四中心"公共服务平台</a:t>
            </a:r>
            <a:br/>
            <a:r>
              <a:t>信创适配中心·安全运营中心·测试认证中心·工业互联网推广中心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16552" y="1051560"/>
            <a:ext cx="3657600" cy="1536192"/>
          </a:xfrm>
          <a:prstGeom prst="rect">
            <a:avLst/>
          </a:prstGeom>
          <a:solidFill>
            <a:srgbClr val="F4F7FB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53712" y="11887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0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1188720"/>
            <a:ext cx="36576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Arial" panose="020B0604020202090204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10912" y="1188720"/>
            <a:ext cx="292608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2C2C2C"/>
                </a:solidFill>
                <a:latin typeface="微软雅黑"/>
              </a:defRPr>
            </a:pPr>
            <a:r>
              <a:t>湘江实验室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1691640"/>
            <a:ext cx="3383280" cy="8229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湖南四大实验室之一</a:t>
            </a:r>
            <a:br/>
            <a:r>
              <a:t>聚焦先进计算+AI+网络安全，产学研协同创新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93024" y="1051560"/>
            <a:ext cx="3657600" cy="1536192"/>
          </a:xfrm>
          <a:prstGeom prst="rect">
            <a:avLst/>
          </a:prstGeom>
          <a:solidFill>
            <a:srgbClr val="F4F7FB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30184" y="11887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D4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0184" y="1188720"/>
            <a:ext cx="36576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Arial" panose="020B0604020202090204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87384" y="1188720"/>
            <a:ext cx="292608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2C2C2C"/>
                </a:solidFill>
                <a:latin typeface="微软雅黑"/>
              </a:defRPr>
            </a:pPr>
            <a:r>
              <a:t>湖南大学网络空间安全学院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184" y="1691640"/>
            <a:ext cx="3383280" cy="8229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2024年入选国家一流网络安全学院（全国16所）</a:t>
            </a:r>
            <a:br/>
            <a:r>
              <a:t>依托国家超算长沙中心，大数据攻防试验场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2724912"/>
            <a:ext cx="3657600" cy="1536192"/>
          </a:xfrm>
          <a:prstGeom prst="rect">
            <a:avLst/>
          </a:prstGeom>
          <a:solidFill>
            <a:srgbClr val="F4F7FB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7240" y="286207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E8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2862072"/>
            <a:ext cx="36576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Arial" panose="020B0604020202090204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2862072"/>
            <a:ext cx="292608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2C2C2C"/>
                </a:solidFill>
                <a:latin typeface="微软雅黑"/>
              </a:defRPr>
            </a:pPr>
            <a:r>
              <a:t>高校科研力量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364992"/>
            <a:ext cx="3383280" cy="8229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国防科大 · 湖南大学 · 中南大学 · 湖南师大</a:t>
            </a:r>
            <a:br/>
            <a:r>
              <a:t>湘潭大学 · 湖南科大 · 南华大学（首批一流网安院系6所）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16552" y="2724912"/>
            <a:ext cx="3657600" cy="1536192"/>
          </a:xfrm>
          <a:prstGeom prst="rect">
            <a:avLst/>
          </a:prstGeom>
          <a:solidFill>
            <a:srgbClr val="F4F7FB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553712" y="286207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53712" y="2862072"/>
            <a:ext cx="36576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Arial" panose="020B0604020202090204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10912" y="2862072"/>
            <a:ext cx="292608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2C2C2C"/>
                </a:solidFill>
                <a:latin typeface="微软雅黑"/>
              </a:defRPr>
            </a:pPr>
            <a:r>
              <a:t>首批省级网信研究基地（7家）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3364992"/>
            <a:ext cx="3383280" cy="8229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中南大学·湖南师大·湘潭大学·湘江实验室</a:t>
            </a:r>
            <a:br/>
            <a:r>
              <a:t>北京大学长沙院·新华社国重/云目未来·方滨兴院士站/文盾信息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93024" y="2724912"/>
            <a:ext cx="3657600" cy="1536192"/>
          </a:xfrm>
          <a:prstGeom prst="rect">
            <a:avLst/>
          </a:prstGeom>
          <a:solidFill>
            <a:srgbClr val="F4F7FB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330184" y="286207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6C3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0184" y="2862072"/>
            <a:ext cx="36576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Arial" panose="020B0604020202090204"/>
              </a:defRPr>
            </a:pPr>
            <a: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87384" y="2862072"/>
            <a:ext cx="292608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2C2C2C"/>
                </a:solidFill>
                <a:latin typeface="微软雅黑"/>
              </a:defRPr>
            </a:pPr>
            <a:r>
              <a:t>信创人才产教融合基地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0184" y="3364992"/>
            <a:ext cx="3383280" cy="8229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联合国防科大等13所高校+长城等15家企业</a:t>
            </a:r>
            <a:br/>
            <a:r>
              <a:t>已培养超2万名人才，85%在集群企业就业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398264"/>
            <a:ext cx="3657600" cy="1536192"/>
          </a:xfrm>
          <a:prstGeom prst="rect">
            <a:avLst/>
          </a:prstGeom>
          <a:solidFill>
            <a:srgbClr val="F4F7FB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77240" y="453542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4535424"/>
            <a:ext cx="36576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Arial" panose="020B0604020202090204"/>
              </a:defRPr>
            </a:pPr>
            <a: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34440" y="4535424"/>
            <a:ext cx="292608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2C2C2C"/>
                </a:solidFill>
                <a:latin typeface="微软雅黑"/>
              </a:defRPr>
            </a:pPr>
            <a:r>
              <a:t>国家网安教育技术产业融合试验区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038344"/>
            <a:ext cx="3383280" cy="8229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2022年湘江新区获批全国首批</a:t>
            </a:r>
            <a:br/>
            <a:r>
              <a:t>政校企研融合，20+高校全链条人才培育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16552" y="4398264"/>
            <a:ext cx="3657600" cy="1536192"/>
          </a:xfrm>
          <a:prstGeom prst="rect">
            <a:avLst/>
          </a:prstGeom>
          <a:solidFill>
            <a:srgbClr val="F4F7FB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553712" y="453542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B88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53712" y="4535424"/>
            <a:ext cx="36576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Arial" panose="020B0604020202090204"/>
              </a:defRPr>
            </a:pPr>
            <a: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10912" y="4535424"/>
            <a:ext cx="292608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2C2C2C"/>
                </a:solidFill>
                <a:latin typeface="微软雅黑"/>
              </a:defRPr>
            </a:pPr>
            <a:r>
              <a:t>湖南省网信研究基地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53712" y="5038344"/>
            <a:ext cx="3383280" cy="8229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2024年1月授牌，7家单位</a:t>
            </a:r>
            <a:br/>
            <a:r>
              <a:t>32选7严格遴选，网信特色智库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93024" y="4398264"/>
            <a:ext cx="3657600" cy="1536192"/>
          </a:xfrm>
          <a:prstGeom prst="rect">
            <a:avLst/>
          </a:prstGeom>
          <a:solidFill>
            <a:srgbClr val="F4F7FB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330184" y="453542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30184" y="4535424"/>
            <a:ext cx="36576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Arial" panose="020B0604020202090204"/>
              </a:defRPr>
            </a:pPr>
            <a:r>
              <a:t>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87384" y="4535424"/>
            <a:ext cx="292608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2C2C2C"/>
                </a:solidFill>
                <a:latin typeface="微软雅黑"/>
              </a:defRPr>
            </a:pPr>
            <a:r>
              <a:t>飞地园区 · 科创飞地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30184" y="5038344"/>
            <a:ext cx="3383280" cy="8229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长株潭飞地园区机制</a:t>
            </a:r>
            <a:br/>
            <a:r>
              <a:t>GDP核算、税收分成、能耗指标突破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2286000"/>
            <a:ext cx="100584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400" b="1">
                <a:solidFill>
                  <a:srgbClr val="003D6B"/>
                </a:solidFill>
                <a:latin typeface="微软雅黑"/>
              </a:defRPr>
            </a:pPr>
            <a:r>
              <a:t>政策支撑体系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841248"/>
            <a:ext cx="10972800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320040"/>
            <a:ext cx="109728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AAAAB8"/>
                </a:solidFill>
                <a:latin typeface="微软雅黑"/>
              </a:defRPr>
            </a:pPr>
            <a:r>
              <a:t>7 / 9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492240"/>
            <a:ext cx="10972800" cy="0"/>
          </a:xfrm>
          <a:prstGeom prst="line">
            <a:avLst/>
          </a:prstGeom>
          <a:ln w="635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537960"/>
            <a:ext cx="731520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湖南省网络安全产业全景图  |  2026年度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37960"/>
            <a:ext cx="320040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基于公开信息整理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051560"/>
            <a:ext cx="55778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051560"/>
            <a:ext cx="54864" cy="1207008"/>
          </a:xfrm>
          <a:prstGeom prst="rect">
            <a:avLst/>
          </a:prstGeom>
          <a:solidFill>
            <a:srgbClr val="00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143000"/>
            <a:ext cx="73152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003D6B"/>
                </a:solidFill>
                <a:latin typeface="微软雅黑"/>
              </a:defRPr>
            </a:pPr>
            <a:r>
              <a:t>立法保障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1124712"/>
            <a:ext cx="448056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《湖南省网络安全和信息化条例》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554480"/>
            <a:ext cx="5303520" cy="5943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全国率先立法，要求县级以上政府设网信专项资金，引导社会资金投资网信建设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051560"/>
            <a:ext cx="55778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051560"/>
            <a:ext cx="54864" cy="1207008"/>
          </a:xfrm>
          <a:prstGeom prst="rect">
            <a:avLst/>
          </a:prstGeom>
          <a:solidFill>
            <a:srgbClr val="00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143000"/>
            <a:ext cx="73152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007C7C"/>
                </a:solidFill>
                <a:latin typeface="微软雅黑"/>
              </a:defRPr>
            </a:pPr>
            <a:r>
              <a:t>产业体系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1124712"/>
            <a:ext cx="448056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"4×4"现代化产业体系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1554480"/>
            <a:ext cx="5303520" cy="5943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自主安全计算列为主攻方向之首，2025年产业规模突破1万亿，2030年达2万亿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350008"/>
            <a:ext cx="55778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2350008"/>
            <a:ext cx="54864" cy="1207008"/>
          </a:xfrm>
          <a:prstGeom prst="rect">
            <a:avLst/>
          </a:prstGeom>
          <a:solidFill>
            <a:srgbClr val="D4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2441448"/>
            <a:ext cx="73152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D46A1A"/>
                </a:solidFill>
                <a:latin typeface="微软雅黑"/>
              </a:defRPr>
            </a:pPr>
            <a:r>
              <a:t>园区政策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2423160"/>
            <a:ext cx="448056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长沙市加快网络安全产业发展政策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2852928"/>
            <a:ext cx="5303520" cy="5943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设专项资金+50亿产业基金，龙头企业最高5000万补助，上市奖200万，研发补贴30%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350008"/>
            <a:ext cx="55778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2350008"/>
            <a:ext cx="54864" cy="1207008"/>
          </a:xfrm>
          <a:prstGeom prst="rect">
            <a:avLst/>
          </a:prstGeom>
          <a:solidFill>
            <a:srgbClr val="2E8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2441448"/>
            <a:ext cx="73152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2E864B"/>
                </a:solidFill>
                <a:latin typeface="微软雅黑"/>
              </a:defRPr>
            </a:pPr>
            <a:r>
              <a:t>人才政策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2423160"/>
            <a:ext cx="448056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网安人才实训基地+领军团队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2852928"/>
            <a:ext cx="5303520" cy="5943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实训基地30万/年运营补助，高端人才最高200万奖励+全额购房补贴，领军团队最高1亿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3648456"/>
            <a:ext cx="55778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3648456"/>
            <a:ext cx="54864" cy="120700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3739896"/>
            <a:ext cx="73152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C0392B"/>
                </a:solidFill>
                <a:latin typeface="微软雅黑"/>
              </a:defRPr>
            </a:pPr>
            <a:r>
              <a:t>区域协同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45920" y="3721608"/>
            <a:ext cx="448056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长株潭一体化发展行动计划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4151376"/>
            <a:ext cx="5303520" cy="5943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"一核两区三城"布局，研发在长沙、转化在湘潭、应用在株洲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3648456"/>
            <a:ext cx="55778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0" y="3648456"/>
            <a:ext cx="54864" cy="1207008"/>
          </a:xfrm>
          <a:prstGeom prst="rect">
            <a:avLst/>
          </a:prstGeom>
          <a:solidFill>
            <a:srgbClr val="6C3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3739896"/>
            <a:ext cx="73152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6C3480"/>
                </a:solidFill>
                <a:latin typeface="微软雅黑"/>
              </a:defRPr>
            </a:pPr>
            <a:r>
              <a:t>十五五规划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3721608"/>
            <a:ext cx="448056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湖南省十五五网信规划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151376"/>
            <a:ext cx="5303520" cy="5943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2025年5月公开征集意见，网络安全保障体系、AI安全风险防范、壮大网安产业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946904"/>
            <a:ext cx="55778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" y="4946904"/>
            <a:ext cx="54864" cy="1207008"/>
          </a:xfrm>
          <a:prstGeom prst="rect">
            <a:avLst/>
          </a:prstGeom>
          <a:solidFill>
            <a:srgbClr val="0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5038344"/>
            <a:ext cx="73152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005B96"/>
                </a:solidFill>
                <a:latin typeface="微软雅黑"/>
              </a:defRPr>
            </a:pPr>
            <a:r>
              <a:t>创新激励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45920" y="5020056"/>
            <a:ext cx="448056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"先用后付"成果转化+适配补助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5449824"/>
            <a:ext cx="5303520" cy="5943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537项科技成果推广，信创适配中心每年新增最高200万适配补助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4946904"/>
            <a:ext cx="55778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00800" y="4946904"/>
            <a:ext cx="54864" cy="1207008"/>
          </a:xfrm>
          <a:prstGeom prst="rect">
            <a:avLst/>
          </a:prstGeom>
          <a:solidFill>
            <a:srgbClr val="B88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0" y="5038344"/>
            <a:ext cx="73152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B8860A"/>
                </a:solidFill>
                <a:latin typeface="微软雅黑"/>
              </a:defRPr>
            </a:pPr>
            <a:r>
              <a:t>飞地机制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06640" y="5020056"/>
            <a:ext cx="448056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飞地园区发展若干措施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0" y="5449824"/>
            <a:ext cx="5303520" cy="5943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GDP核算、税收分成、能耗指标突破，支持长株潭产业跨区域协同布局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2286000"/>
            <a:ext cx="100584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400" b="1">
                <a:solidFill>
                  <a:srgbClr val="003D6B"/>
                </a:solidFill>
                <a:latin typeface="微软雅黑"/>
              </a:defRPr>
            </a:pPr>
            <a:r>
              <a:t>发展趋势与未来方向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841248"/>
            <a:ext cx="10972800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320040"/>
            <a:ext cx="109728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AAAAB8"/>
                </a:solidFill>
                <a:latin typeface="微软雅黑"/>
              </a:defRPr>
            </a:pPr>
            <a:r>
              <a:t>8 / 9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492240"/>
            <a:ext cx="10972800" cy="0"/>
          </a:xfrm>
          <a:prstGeom prst="line">
            <a:avLst/>
          </a:prstGeom>
          <a:ln w="635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537960"/>
            <a:ext cx="731520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湖南省网络安全产业全景图  |  2026年度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37960"/>
            <a:ext cx="320040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基于公开信息整理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188720"/>
            <a:ext cx="2697480" cy="4389120"/>
          </a:xfrm>
          <a:prstGeom prst="rect">
            <a:avLst/>
          </a:prstGeom>
          <a:solidFill>
            <a:srgbClr val="F4F7FB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188720"/>
            <a:ext cx="2697480" cy="54864"/>
          </a:xfrm>
          <a:prstGeom prst="rect">
            <a:avLst/>
          </a:prstGeom>
          <a:solidFill>
            <a:srgbClr val="00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17320"/>
            <a:ext cx="1828800" cy="1097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5600" b="1">
                <a:solidFill>
                  <a:srgbClr val="DDEBF5"/>
                </a:solidFill>
                <a:latin typeface="Arial" panose="020B0604020202090204"/>
              </a:defRPr>
            </a:pPr>
            <a:r>
              <a:t>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606040"/>
            <a:ext cx="548640" cy="27432"/>
          </a:xfrm>
          <a:prstGeom prst="rect">
            <a:avLst/>
          </a:prstGeom>
          <a:solidFill>
            <a:srgbClr val="00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788920"/>
            <a:ext cx="233172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800" b="1">
                <a:solidFill>
                  <a:srgbClr val="003D6B"/>
                </a:solidFill>
                <a:latin typeface="微软雅黑"/>
              </a:defRPr>
            </a:pPr>
            <a:r>
              <a:t>AI + 安全融合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74720"/>
            <a:ext cx="2331720" cy="18288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6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奇安信Q-GPT安全机器人国内大模型评测第一，威胁减少80%。湖南率先出台AI安全治理指引，建立AI安全风险监测预警机制。"十五五"推动AI+安全升级为"湖南模式2.0"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1188720"/>
            <a:ext cx="2697480" cy="4389120"/>
          </a:xfrm>
          <a:prstGeom prst="rect">
            <a:avLst/>
          </a:prstGeom>
          <a:solidFill>
            <a:srgbClr val="F4F7FB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0" y="1188720"/>
            <a:ext cx="2697480" cy="54864"/>
          </a:xfrm>
          <a:prstGeom prst="rect">
            <a:avLst/>
          </a:prstGeom>
          <a:solidFill>
            <a:srgbClr val="00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1417320"/>
            <a:ext cx="1828800" cy="1097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5600" b="1">
                <a:solidFill>
                  <a:srgbClr val="DDEBF5"/>
                </a:solidFill>
                <a:latin typeface="Arial" panose="020B0604020202090204"/>
              </a:defRPr>
            </a:pPr>
            <a:r>
              <a:t>02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2606040"/>
            <a:ext cx="548640" cy="27432"/>
          </a:xfrm>
          <a:prstGeom prst="rect">
            <a:avLst/>
          </a:prstGeom>
          <a:solidFill>
            <a:srgbClr val="00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2788920"/>
            <a:ext cx="233172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800" b="1">
                <a:solidFill>
                  <a:srgbClr val="007C7C"/>
                </a:solidFill>
                <a:latin typeface="微软雅黑"/>
              </a:defRPr>
            </a:pPr>
            <a:r>
              <a:t>信创国产替代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474720"/>
            <a:ext cx="2331720" cy="18288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6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"两芯一生态"体系覆盖4.8万家企业560万款产品，信创整机占国产市场65%。"六机七芯"占据市场主导，从党政信创向金融、电力、医疗等8大行业加速渗透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188720"/>
            <a:ext cx="2697480" cy="4389120"/>
          </a:xfrm>
          <a:prstGeom prst="rect">
            <a:avLst/>
          </a:prstGeom>
          <a:solidFill>
            <a:srgbClr val="F4F7FB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1188720"/>
            <a:ext cx="2697480" cy="54864"/>
          </a:xfrm>
          <a:prstGeom prst="rect">
            <a:avLst/>
          </a:prstGeom>
          <a:solidFill>
            <a:srgbClr val="D4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1417320"/>
            <a:ext cx="1828800" cy="1097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5600" b="1">
                <a:solidFill>
                  <a:srgbClr val="DDEBF5"/>
                </a:solidFill>
                <a:latin typeface="Arial" panose="020B0604020202090204"/>
              </a:defRPr>
            </a:pPr>
            <a:r>
              <a:t>03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2606040"/>
            <a:ext cx="548640" cy="27432"/>
          </a:xfrm>
          <a:prstGeom prst="rect">
            <a:avLst/>
          </a:prstGeom>
          <a:solidFill>
            <a:srgbClr val="D4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788920"/>
            <a:ext cx="233172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800" b="1">
                <a:solidFill>
                  <a:srgbClr val="D46A1A"/>
                </a:solidFill>
                <a:latin typeface="微软雅黑"/>
              </a:defRPr>
            </a:pPr>
            <a:r>
              <a:t>数据安全治理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474720"/>
            <a:ext cx="2331720" cy="18288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6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隐私计算+数据脱敏技术突破，曙光云"立体密算"理论体系。长沙数据标注基地+湖南大数据交易所，多方协同数据安全治理机制建设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0" y="1188720"/>
            <a:ext cx="2697480" cy="4389120"/>
          </a:xfrm>
          <a:prstGeom prst="rect">
            <a:avLst/>
          </a:prstGeom>
          <a:solidFill>
            <a:srgbClr val="F4F7FB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44000" y="1188720"/>
            <a:ext cx="2697480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0" y="1417320"/>
            <a:ext cx="1828800" cy="1097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5600" b="1">
                <a:solidFill>
                  <a:srgbClr val="DDEBF5"/>
                </a:solidFill>
                <a:latin typeface="Arial" panose="020B0604020202090204"/>
              </a:defRPr>
            </a:pPr>
            <a:r>
              <a:t>04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26880" y="2606040"/>
            <a:ext cx="548640" cy="274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0" y="2788920"/>
            <a:ext cx="233172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800" b="1">
                <a:solidFill>
                  <a:srgbClr val="C0392B"/>
                </a:solidFill>
                <a:latin typeface="微软雅黑"/>
              </a:defRPr>
            </a:pPr>
            <a:r>
              <a:t>长株潭一体化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3474720"/>
            <a:ext cx="2331720" cy="18288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6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"一核两区三城"空间格局，三市集群梯次培育体系。长株潭+东江湖两大算力集群争取纳入全国一体化算力网络，"总部在长沙、生产在株潭"飞地模式深化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800" b="1">
                <a:solidFill>
                  <a:srgbClr val="003D6B"/>
                </a:solidFill>
                <a:latin typeface="微软雅黑"/>
              </a:defRPr>
            </a:pPr>
            <a:r>
              <a:t>总结与展望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280160"/>
            <a:ext cx="10789920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1554480"/>
            <a:ext cx="1051560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2400" b="1">
                <a:solidFill>
                  <a:srgbClr val="2C2C2C"/>
                </a:solidFill>
                <a:latin typeface="微软雅黑"/>
              </a:defRPr>
            </a:pPr>
            <a:r>
              <a:t>湖南网络安全产业 — 迈向自主安全计算新高地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651760"/>
            <a:ext cx="10058400" cy="548640"/>
          </a:xfrm>
          <a:prstGeom prst="rect">
            <a:avLst/>
          </a:prstGeom>
          <a:solidFill>
            <a:srgbClr val="F4F7FB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651760"/>
            <a:ext cx="54864" cy="548640"/>
          </a:xfrm>
          <a:prstGeom prst="rect">
            <a:avLst/>
          </a:prstGeom>
          <a:solidFill>
            <a:srgbClr val="00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182880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003D6B"/>
                </a:solidFill>
                <a:latin typeface="微软雅黑"/>
              </a:defRPr>
            </a:pPr>
            <a:r>
              <a:t>产业规模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651760"/>
            <a:ext cx="777240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  <a:defRPr sz="1100" b="0">
                <a:solidFill>
                  <a:srgbClr val="4A4A4A"/>
                </a:solidFill>
                <a:latin typeface="微软雅黑"/>
              </a:defRPr>
            </a:pPr>
            <a:r>
              <a:t>绿色智能计算产业2024年8520亿元（+19.2%），2025年突破1万亿。集群产值超2300亿，全国唯一计算领域国家级集群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310128"/>
            <a:ext cx="10058400" cy="548640"/>
          </a:xfrm>
          <a:prstGeom prst="rect">
            <a:avLst/>
          </a:prstGeom>
          <a:solidFill>
            <a:srgbClr val="F4F7FB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3310128"/>
            <a:ext cx="54864" cy="548640"/>
          </a:xfrm>
          <a:prstGeom prst="rect">
            <a:avLst/>
          </a:prstGeom>
          <a:solidFill>
            <a:srgbClr val="00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310128"/>
            <a:ext cx="182880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007C7C"/>
                </a:solidFill>
                <a:latin typeface="微软雅黑"/>
              </a:defRPr>
            </a:pPr>
            <a:r>
              <a:t>区域格局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310128"/>
            <a:ext cx="777240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  <a:defRPr sz="1100" b="0">
                <a:solidFill>
                  <a:srgbClr val="4A4A4A"/>
                </a:solidFill>
                <a:latin typeface="微软雅黑"/>
              </a:defRPr>
            </a:pPr>
            <a:r>
              <a:t>长沙国家网安产业园（全国第二），长株潭"一核两区三城"，衡阳郴州益阳协同，六大集聚区差异化发展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968496"/>
            <a:ext cx="10058400" cy="548640"/>
          </a:xfrm>
          <a:prstGeom prst="rect">
            <a:avLst/>
          </a:prstGeom>
          <a:solidFill>
            <a:srgbClr val="F4F7FB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3968496"/>
            <a:ext cx="54864" cy="548640"/>
          </a:xfrm>
          <a:prstGeom prst="rect">
            <a:avLst/>
          </a:prstGeom>
          <a:solidFill>
            <a:srgbClr val="D4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968496"/>
            <a:ext cx="182880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D46A1A"/>
                </a:solidFill>
                <a:latin typeface="微软雅黑"/>
              </a:defRPr>
            </a:pPr>
            <a:r>
              <a:t>技术体系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968496"/>
            <a:ext cx="777240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  <a:defRPr sz="1100" b="0">
                <a:solidFill>
                  <a:srgbClr val="4A4A4A"/>
                </a:solidFill>
                <a:latin typeface="微软雅黑"/>
              </a:defRPr>
            </a:pPr>
            <a:r>
              <a:t>"两芯一生态"覆盖4.8万家企业560万款产品，信创整机占国产65%，"六机七芯"主导市场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626864"/>
            <a:ext cx="10058400" cy="548640"/>
          </a:xfrm>
          <a:prstGeom prst="rect">
            <a:avLst/>
          </a:prstGeom>
          <a:solidFill>
            <a:srgbClr val="F4F7FB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4626864"/>
            <a:ext cx="54864" cy="548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626864"/>
            <a:ext cx="182880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C0392B"/>
                </a:solidFill>
                <a:latin typeface="微软雅黑"/>
              </a:defRPr>
            </a:pPr>
            <a:r>
              <a:t>政策护航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626864"/>
            <a:ext cx="777240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  <a:defRPr sz="1100" b="0">
                <a:solidFill>
                  <a:srgbClr val="4A4A4A"/>
                </a:solidFill>
                <a:latin typeface="微软雅黑"/>
              </a:defRPr>
            </a:pPr>
            <a:r>
              <a:t>全国率先网信立法、50亿产业基金、"十五五"网信规划、飞地园区机制、"先用后付"成果转化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5285231"/>
            <a:ext cx="10058400" cy="548640"/>
          </a:xfrm>
          <a:prstGeom prst="rect">
            <a:avLst/>
          </a:prstGeom>
          <a:solidFill>
            <a:srgbClr val="F4F7FB"/>
          </a:solidFill>
          <a:ln w="635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" y="5285231"/>
            <a:ext cx="54864" cy="548640"/>
          </a:xfrm>
          <a:prstGeom prst="rect">
            <a:avLst/>
          </a:prstGeom>
          <a:solidFill>
            <a:srgbClr val="6C3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285231"/>
            <a:ext cx="182880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6C3480"/>
                </a:solidFill>
                <a:latin typeface="微软雅黑"/>
              </a:defRPr>
            </a:pPr>
            <a:r>
              <a:t>未来方向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5285231"/>
            <a:ext cx="777240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  <a:defRPr sz="1100" b="0">
                <a:solidFill>
                  <a:srgbClr val="4A4A4A"/>
                </a:solidFill>
                <a:latin typeface="微软雅黑"/>
              </a:defRPr>
            </a:pPr>
            <a:r>
              <a:t>AI+安全融合、信创国产替代加速、数据安全治理深化、长株潭一体化升级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31520" y="6035040"/>
            <a:ext cx="10515600" cy="0"/>
          </a:xfrm>
          <a:prstGeom prst="line">
            <a:avLst/>
          </a:prstGeom>
          <a:ln w="635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31520" y="6126480"/>
            <a:ext cx="10515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AAAAB8"/>
                </a:solidFill>
                <a:latin typeface="微软雅黑"/>
              </a:defRPr>
            </a:pPr>
            <a:r>
              <a:t>数据来源：湖南省工业和信息化厅 · 长沙市人民政府 · 湖南日报 · 中国新闻网 · 全国工商联  |  2026年度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3880</Words>
  <Application>WPS 演示</Application>
  <PresentationFormat>On-screen Show (4:3)</PresentationFormat>
  <Paragraphs>572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3" baseType="lpstr">
      <vt:lpstr>Arial</vt:lpstr>
      <vt:lpstr>宋体</vt:lpstr>
      <vt:lpstr>Wingdings</vt:lpstr>
      <vt:lpstr>Arial</vt:lpstr>
      <vt:lpstr>微软雅黑</vt:lpstr>
      <vt:lpstr>汉仪旗黑</vt:lpstr>
      <vt:lpstr>Calibri</vt:lpstr>
      <vt:lpstr>Helvetica Neue</vt:lpstr>
      <vt:lpstr>宋体</vt:lpstr>
      <vt:lpstr>汉仪书宋二KW</vt:lpstr>
      <vt:lpstr>微软雅黑</vt:lpstr>
      <vt:lpstr>Arial Unicode MS</vt:lpstr>
      <vt:lpstr>微软雅黑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林颖军</cp:lastModifiedBy>
  <cp:revision>2</cp:revision>
  <dcterms:created xsi:type="dcterms:W3CDTF">2026-07-15T23:27:09Z</dcterms:created>
  <dcterms:modified xsi:type="dcterms:W3CDTF">2026-07-15T23:27:09Z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52911BC3860647EA4D17586A9C808896_42</vt:lpwstr>
  </property>
  <property fmtid="{D5CDD505-2E9C-101B-9397-08002B2CF9AE}" pid="3" name="KSOProductBuildVer">
    <vt:lpwstr>2052-12.1.26026.26026</vt:lpwstr>
  </property>
</Properties>
</file>