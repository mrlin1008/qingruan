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109728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E8C8C0"/>
                </a:solidFill>
                <a:latin typeface="Arial"/>
              </a:defRPr>
            </a:pPr>
            <a:r>
              <a:t>HUNAN SEMICONDUCTOR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E8C8C0"/>
                </a:solidFill>
                <a:latin typeface="Arial"/>
              </a:defRPr>
            </a:pPr>
            <a:r>
              <a:t>INDUSTRY PANORAMA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3200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D0A0A0"/>
                </a:solidFill>
                <a:latin typeface="Arial"/>
              </a:defRPr>
            </a:pPr>
            <a:r>
              <a:t>2026 INDUSTRY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6858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400" b="0">
                <a:solidFill>
                  <a:srgbClr val="C49A2A"/>
                </a:solidFill>
                <a:latin typeface="微软雅黑"/>
              </a:defRPr>
            </a:pPr>
            <a:r>
              <a:t>产业研究报告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68580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4000" b="1">
                <a:solidFill>
                  <a:srgbClr val="8B1A1A"/>
                </a:solidFill>
                <a:latin typeface="微软雅黑"/>
              </a:defRPr>
            </a:pPr>
            <a:r>
              <a:t>湖南省半导体</a:t>
            </a:r>
            <a:br/>
            <a:r>
              <a:t>产业全景图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794760"/>
            <a:ext cx="731520" cy="36576"/>
          </a:xfrm>
          <a:prstGeom prst="rect">
            <a:avLst/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931920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0">
                <a:solidFill>
                  <a:srgbClr val="7A7A8A"/>
                </a:solidFill>
                <a:latin typeface="微软雅黑"/>
              </a:defRPr>
            </a:pPr>
            <a:r>
              <a:t>功率半导体"国家队"  ·  SiC/GaN双轮驱动  ·  2026年度产业图谱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7548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Arial"/>
              </a:defRPr>
            </a:pPr>
            <a:r>
              <a:t>1,571.74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9204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亿元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166360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重点项目总投资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7548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89204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66360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重点项目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7548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Arial"/>
              </a:defRPr>
            </a:pPr>
            <a:r>
              <a:t>478.91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89204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亿元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66360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预计新增营收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4754880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4892040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AAAAB8"/>
                </a:solidFill>
                <a:latin typeface="微软雅黑"/>
              </a:defRPr>
            </a:pPr>
            <a:r>
              <a:t>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5166360"/>
            <a:ext cx="1554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7A7A8A"/>
                </a:solidFill>
                <a:latin typeface="微软雅黑"/>
              </a:defRPr>
            </a:pPr>
            <a:r>
              <a:t>百亿级项目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80" y="5852160"/>
            <a:ext cx="6400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54880" y="5943600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数据来源：湖南省工业和信息化厅 · 红网 · 中国证券报 · 时代电气/三安光电年报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目  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2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8B1A1A"/>
                </a:solidFill>
                <a:latin typeface="Arial"/>
              </a:defRPr>
            </a:pPr>
            <a: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1417320"/>
            <a:ext cx="0" cy="64008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94560" y="137160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产业链全景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8308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半导体上中下游全链路解析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280160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D46A1A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0" y="1417320"/>
            <a:ext cx="0" cy="64008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60" y="137160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功率半导体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78308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IGBT与SiC/GaN双赛道深度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34639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006C67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11680" y="2971799"/>
            <a:ext cx="0" cy="64008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94560" y="2926079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区域布局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337559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六大核心产业集聚区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34639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C49A2A"/>
                </a:solidFill>
                <a:latin typeface="Arial"/>
              </a:defRPr>
            </a:pPr>
            <a: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0" y="2971799"/>
            <a:ext cx="0" cy="64008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80960" y="2926079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重点企业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337559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16家龙头与骨干企业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1A2E5C"/>
                </a:solidFill>
                <a:latin typeface="Arial"/>
              </a:defRPr>
            </a:pPr>
            <a:r>
              <a:t>05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4526280"/>
            <a:ext cx="0" cy="64008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94560" y="448056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创新平台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8920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科研平台与高校力量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89120"/>
            <a:ext cx="109728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C0392B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0" y="4526280"/>
            <a:ext cx="0" cy="64008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680960" y="4480560"/>
            <a:ext cx="3657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800" b="1">
                <a:solidFill>
                  <a:srgbClr val="2C2C2C"/>
                </a:solidFill>
                <a:latin typeface="微软雅黑"/>
              </a:defRPr>
            </a:pPr>
            <a:r>
              <a:t>政策支撑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8920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100" b="0">
                <a:solidFill>
                  <a:srgbClr val="7A7A8A"/>
                </a:solidFill>
                <a:latin typeface="微软雅黑"/>
              </a:defRPr>
            </a:pPr>
            <a:r>
              <a:t>8项核心政策体系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半导体产业链全景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3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1188720" cy="1508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上游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F0E0D8"/>
                </a:solidFill>
                <a:latin typeface="微软雅黑"/>
              </a:defRPr>
            </a:pPr>
            <a:r>
              <a:t>材料 · 设备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051560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1051560"/>
            <a:ext cx="2029968" cy="2743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8B1A1A"/>
                </a:solidFill>
                <a:latin typeface="微软雅黑"/>
              </a:defRPr>
            </a:pPr>
            <a:r>
              <a:t>衬底/外延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SiC衬底、GaN外延片</a:t>
            </a:r>
            <a:br/>
            <a:r>
              <a:t>硅基外延、蓝宝石衬底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57400" y="2103120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5740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8B1A1A"/>
                </a:solidFill>
                <a:latin typeface="微软雅黑"/>
              </a:defRPr>
            </a:pPr>
            <a:r>
              <a:t>三安半导体 · 赛德雷特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051560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9080" y="1051560"/>
            <a:ext cx="2029968" cy="2743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8B1A1A"/>
                </a:solidFill>
                <a:latin typeface="微软雅黑"/>
              </a:defRPr>
            </a:pPr>
            <a:r>
              <a:t>芯片设计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CPU/GPU/SSD控制器/DSP</a:t>
            </a:r>
            <a:br/>
            <a:r>
              <a:t>FPGA、模拟芯片、射频芯片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60520" y="2103120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6052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8B1A1A"/>
                </a:solidFill>
                <a:latin typeface="微软雅黑"/>
              </a:defRPr>
            </a:pPr>
            <a:r>
              <a:t>景嘉微 · 国科微 · 飞腾 · 毂梁微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051560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051560"/>
            <a:ext cx="2029968" cy="2743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8B1A1A"/>
                </a:solidFill>
                <a:latin typeface="微软雅黑"/>
              </a:defRPr>
            </a:pPr>
            <a:r>
              <a:t>半导体材料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基板玻璃、电子特气、光刻胶</a:t>
            </a:r>
            <a:br/>
            <a:r>
              <a:t>靶材、CMP抛光液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2103120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6364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8B1A1A"/>
                </a:solidFill>
                <a:latin typeface="微软雅黑"/>
              </a:defRPr>
            </a:pPr>
            <a:r>
              <a:t>邵虹 · 江丰电子 · 金博股份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1051560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1051560"/>
            <a:ext cx="2029968" cy="2743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8B1A1A"/>
                </a:solidFill>
                <a:latin typeface="微软雅黑"/>
              </a:defRPr>
            </a:pPr>
            <a:r>
              <a:t>制造设备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晶体生长炉、刻蚀设备</a:t>
            </a:r>
            <a:br/>
            <a:r>
              <a:t>光刻机配件、测试设备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66760" y="2103120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6676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8B1A1A"/>
                </a:solidFill>
                <a:latin typeface="微软雅黑"/>
              </a:defRPr>
            </a:pPr>
            <a:r>
              <a:t>阿秒光学 · 弘宇精密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78440" y="1051560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78440" y="1051560"/>
            <a:ext cx="2029968" cy="2743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1188720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8B1A1A"/>
                </a:solidFill>
                <a:latin typeface="微软雅黑"/>
              </a:defRPr>
            </a:pPr>
            <a:r>
              <a:t>封装材料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1508760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封装基板、引线框架</a:t>
            </a:r>
            <a:br/>
            <a:r>
              <a:t>陶瓷基板、键合丝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469880" y="2103120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469880" y="2167128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8B1A1A"/>
                </a:solidFill>
                <a:latin typeface="微软雅黑"/>
              </a:defRPr>
            </a:pPr>
            <a:r>
              <a:t>信维电科 · 明正宏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2770632"/>
            <a:ext cx="1188720" cy="150876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044952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中游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547872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F0E0D8"/>
                </a:solidFill>
                <a:latin typeface="微软雅黑"/>
              </a:defRPr>
            </a:pPr>
            <a:r>
              <a:t>制造 · 封测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65960" y="2770632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65960" y="2770632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晶圆制造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8英寸SiC晶圆产线（国内首批）</a:t>
            </a:r>
            <a:br/>
            <a:r>
              <a:t>6英寸SiC月产能16000片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057400" y="3822192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05740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湖南三安 · 中车时代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69080" y="2770632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69080" y="2770632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052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功率半导体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IGBT/IGCT/MOSFET IDM模式</a:t>
            </a:r>
            <a:br/>
            <a:r>
              <a:t>中低压功率器件全产业链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160520" y="3822192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16052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中车时代半导体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2770632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72200" y="2770632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先进封装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SiP/3D封装、晶圆级封装</a:t>
            </a:r>
            <a:br/>
            <a:r>
              <a:t>功率器件封装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263640" y="3822192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6364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国创越摩 · 湘潭智造基地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2770632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75320" y="2770632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676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第三代半导体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SiC MOSFET/GaN HEMT</a:t>
            </a:r>
            <a:br/>
            <a:r>
              <a:t>8英寸SiC产线规模化通线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366760" y="3822192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36676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三安半导体 · 棣山科技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78440" y="2770632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78440" y="2770632"/>
            <a:ext cx="2029968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69880" y="2907792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D46A1A"/>
                </a:solidFill>
                <a:latin typeface="微软雅黑"/>
              </a:defRPr>
            </a:pPr>
            <a:r>
              <a:t>存储器/逻辑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69880" y="3227832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长鑫存储生态协同</a:t>
            </a:r>
            <a:br/>
            <a:r>
              <a:t>国产存储产业链配套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469880" y="3822192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469880" y="3886200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D46A1A"/>
                </a:solidFill>
                <a:latin typeface="微软雅黑"/>
              </a:defRPr>
            </a:pPr>
            <a:r>
              <a:t>岳阳紫光 · 国科微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080" y="4489704"/>
            <a:ext cx="1188720" cy="150876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764024"/>
            <a:ext cx="1188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下游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266944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F0E0D8"/>
                </a:solidFill>
                <a:latin typeface="微软雅黑"/>
              </a:defRPr>
            </a:pPr>
            <a:r>
              <a:t>应用 · 终端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65960" y="4489704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6596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新能源汽车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车规级SiC主驱芯片</a:t>
            </a:r>
            <a:br/>
            <a:r>
              <a:t>理想/小鹏/蔚来主驱供应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057400" y="5541264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205740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三安半导体 · 中车时代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69080" y="4489704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06908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6052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轨道交通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6052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高铁/地铁IGBT模块</a:t>
            </a:r>
            <a:br/>
            <a:r>
              <a:t>大功率晶闸管全球第一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160520" y="5541264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16052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中车时代半导体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172200" y="4489704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7220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6364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智能电网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特高压功率器件</a:t>
            </a:r>
            <a:br/>
            <a:r>
              <a:t>柔性直流输电换流阀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263640" y="5541264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26364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中车时代 · 特变电工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75320" y="4489704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7532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6676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AI服务器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6676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SiC电源芯片、GPU算力</a:t>
            </a:r>
            <a:br/>
            <a:r>
              <a:t>数据中心供电系统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8366760" y="5541264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36676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三安 · 景嘉微 · 图灵智算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378440" y="4489704"/>
            <a:ext cx="2029968" cy="150876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378440" y="4489704"/>
            <a:ext cx="2029968" cy="27432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469880" y="4626864"/>
            <a:ext cx="184708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C49A2A"/>
                </a:solidFill>
                <a:latin typeface="微软雅黑"/>
              </a:defRPr>
            </a:pPr>
            <a:r>
              <a:t>消费电子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69880" y="4946904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手机快充GaN器件</a:t>
            </a:r>
            <a:br/>
            <a:r>
              <a:t>LED/Mini-LED直显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0469880" y="5541264"/>
            <a:ext cx="1847088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0469880" y="5605272"/>
            <a:ext cx="184708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C49A2A"/>
                </a:solidFill>
                <a:latin typeface="微软雅黑"/>
              </a:defRPr>
            </a:pPr>
            <a:r>
              <a:t>三安 · 惠科 · 蓝思科技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功率半导体：IGBT与SiC/GaN双赛道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4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5303520" cy="502920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97280"/>
            <a:ext cx="5303520" cy="54864"/>
          </a:xfrm>
          <a:prstGeom prst="rect">
            <a:avLst/>
          </a:prstGeom>
          <a:solidFill>
            <a:srgbClr val="B5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28016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8B1A1A"/>
                </a:solidFill>
                <a:latin typeface="微软雅黑"/>
              </a:defRPr>
            </a:pPr>
            <a:r>
              <a:t>硅基IGBT — 中车时代半导体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B52E2E"/>
                </a:solidFill>
                <a:latin typeface="微软雅黑"/>
              </a:defRPr>
            </a:pPr>
            <a:r>
              <a:t>产业规模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82880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株洲功率半导体集群规模595亿元，220+企业，11个国家级创新平台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B52E2E"/>
                </a:solidFill>
                <a:latin typeface="微软雅黑"/>
              </a:defRPr>
            </a:pPr>
            <a:r>
              <a:t>技术地位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487168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全球少数同时掌握IGBT/IGCT/SiC的IDM企业，大功率晶闸管全球市占率第一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45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B52E2E"/>
                </a:solidFill>
                <a:latin typeface="微软雅黑"/>
              </a:defRPr>
            </a:pPr>
            <a:r>
              <a:t>2025营收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45536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半导体板块53.6亿元（+30.43%），器件销量近700万只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0390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B52E2E"/>
                </a:solidFill>
                <a:latin typeface="微软雅黑"/>
              </a:defRPr>
            </a:pPr>
            <a:r>
              <a:t>产能建设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803904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中低压功率器件产业化（株洲）三期，宜兴三期同步推进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6227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B52E2E"/>
                </a:solidFill>
                <a:latin typeface="微软雅黑"/>
              </a:defRPr>
            </a:pPr>
            <a:r>
              <a:t>下游应用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462272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高铁/地铁牵引、新能源汽车电驱、特高压电网、风电变流器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B52E2E"/>
                </a:solidFill>
                <a:latin typeface="微软雅黑"/>
              </a:defRPr>
            </a:pPr>
            <a:r>
              <a:t>技术路线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12064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第四代沟槽栅IGBT已突破，精细平面栅批量交付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097280"/>
            <a:ext cx="5303520" cy="502920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097280"/>
            <a:ext cx="5303520" cy="54864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28016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000" b="1">
                <a:solidFill>
                  <a:srgbClr val="D46A1A"/>
                </a:solidFill>
                <a:latin typeface="微软雅黑"/>
              </a:defRPr>
            </a:pPr>
            <a:r>
              <a:t>SiC/GaN第三代 — 三安半导体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82880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6A1A"/>
                </a:solidFill>
                <a:latin typeface="微软雅黑"/>
              </a:defRPr>
            </a:pPr>
            <a:r>
              <a:t>投资规模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82880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长沙产业园总投资160亿元，1000亩，国内首条8英寸SiC全产业链贯通平台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6A1A"/>
                </a:solidFill>
                <a:latin typeface="微软雅黑"/>
              </a:defRPr>
            </a:pPr>
            <a:r>
              <a:t>产能现状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487168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6英寸SiC月产能16000片，8英寸衬底1000片/月、外延2000片/月；GaN 2000片/月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45536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6A1A"/>
                </a:solidFill>
                <a:latin typeface="微软雅黑"/>
              </a:defRPr>
            </a:pPr>
            <a:r>
              <a:t>2025营收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145536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湖南三安9.1亿元，2026Q1出货量同比+123%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03904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6A1A"/>
                </a:solidFill>
                <a:latin typeface="微软雅黑"/>
              </a:defRPr>
            </a:pPr>
            <a:r>
              <a:t>车规突破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803904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SiC MOSFET上车理想汽车高压平台，车规级主驱芯片规模化装车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62272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6A1A"/>
                </a:solidFill>
                <a:latin typeface="微软雅黑"/>
              </a:defRPr>
            </a:pPr>
            <a:r>
              <a:t>客户阵容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462272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理想、台达、维谛、光宝、长城、伟创力等全球头部客户批量供货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120640"/>
            <a:ext cx="1097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1">
                <a:solidFill>
                  <a:srgbClr val="D46A1A"/>
                </a:solidFill>
                <a:latin typeface="微软雅黑"/>
              </a:defRPr>
            </a:pPr>
            <a:r>
              <a:t>远期规划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120640"/>
            <a:ext cx="3657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达产年产36万片6英寸+48万片8英寸SiC晶圆，累计出货超3亿颗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六大核心产业集聚区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5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51560"/>
            <a:ext cx="54864" cy="2423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161288"/>
            <a:ext cx="2286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8B1A1A"/>
                </a:solidFill>
                <a:latin typeface="微软雅黑"/>
              </a:defRPr>
            </a:pPr>
            <a:r>
              <a:t>第三代半导体+芯片设计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99032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46304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8B1A1A"/>
                </a:solidFill>
                <a:latin typeface="微软雅黑"/>
              </a:defRPr>
            </a:pPr>
            <a:r>
              <a:t>16个项目·118.78亿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920240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SiC/GaN晶圆制造 · GPU/SSD/CPU设计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2240280"/>
            <a:ext cx="329184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2331720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三安半导体 · 景嘉微 · 国科微 · 飞腾 · 湘江鲲鹏 · 图灵智算 · 中国长城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1051560"/>
            <a:ext cx="54864" cy="242316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161288"/>
            <a:ext cx="2286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6A1A"/>
                </a:solidFill>
                <a:latin typeface="微软雅黑"/>
              </a:defRPr>
            </a:pPr>
            <a:r>
              <a:t>功率半导体"国家队"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1399032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株洲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146304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D46A1A"/>
                </a:solidFill>
                <a:latin typeface="微软雅黑"/>
              </a:defRPr>
            </a:pPr>
            <a:r>
              <a:t>集群规模595亿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1920240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IGBT全产业链 · 国家级产业集群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9432" y="2240280"/>
            <a:ext cx="329184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9432" y="2331720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中车时代半导体 · 时代电气 · 时代新材 · 三一硅能 · 赛德雷特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1051560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1051560"/>
            <a:ext cx="54864" cy="2423160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161288"/>
            <a:ext cx="2286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2E864B"/>
                </a:solidFill>
                <a:latin typeface="微软雅黑"/>
              </a:defRPr>
            </a:pPr>
            <a:r>
              <a:t>半导体材料新势力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1399032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娄底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4" y="1463040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E864B"/>
                </a:solidFill>
                <a:latin typeface="微软雅黑"/>
              </a:defRPr>
            </a:pPr>
            <a:r>
              <a:t>21.16亿·+27.1%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1920240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电子陶瓷 · 显示材料 · 芯片半导体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75904" y="2240280"/>
            <a:ext cx="329184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75904" y="2331720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美程陶瓷 · 安地亚斯 · 华菱安赛乐米塔尔 · 20家规上企业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3639312"/>
            <a:ext cx="54864" cy="2423160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3749040"/>
            <a:ext cx="2286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1A2E5C"/>
                </a:solidFill>
                <a:latin typeface="微软雅黑"/>
              </a:defRPr>
            </a:pPr>
            <a:r>
              <a:t>基板玻璃基地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986784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邵阳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0507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1A2E5C"/>
                </a:solidFill>
                <a:latin typeface="微软雅黑"/>
              </a:defRPr>
            </a:pPr>
            <a:r>
              <a:t>4条热端产线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507992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显示基板玻璃 · 上下游配套集聚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4828032"/>
            <a:ext cx="329184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" y="4919472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邵虹基板玻璃 · 致成科技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16552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6552" y="3639312"/>
            <a:ext cx="54864" cy="242316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9432" y="3749040"/>
            <a:ext cx="2286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6C67"/>
                </a:solidFill>
                <a:latin typeface="微软雅黑"/>
              </a:defRPr>
            </a:pPr>
            <a:r>
              <a:t>先进封装+制造基地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9432" y="3986784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湘潭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2552" y="40507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006C67"/>
                </a:solidFill>
                <a:latin typeface="微软雅黑"/>
              </a:defRPr>
            </a:pPr>
            <a:r>
              <a:t>23.8亿投资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99432" y="4507992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半导体制造 · 封装测试 · 智能终端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99432" y="4828032"/>
            <a:ext cx="329184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99432" y="4919472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半导体湘潭智造基地 · 国创越摩先进封装 · 蓝思智能终端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3639312"/>
            <a:ext cx="3657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93024" y="3639312"/>
            <a:ext cx="54864" cy="2423160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3749040"/>
            <a:ext cx="2286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C3480"/>
                </a:solidFill>
                <a:latin typeface="微软雅黑"/>
              </a:defRPr>
            </a:pPr>
            <a:r>
              <a:t>存储器+中部基地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3986784"/>
            <a:ext cx="1828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600" b="1">
                <a:solidFill>
                  <a:srgbClr val="2C2C2C"/>
                </a:solidFill>
                <a:latin typeface="微软雅黑"/>
              </a:defRPr>
            </a:pPr>
            <a:r>
              <a:t>岳阳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79024" y="40507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6C3480"/>
                </a:solidFill>
                <a:latin typeface="微软雅黑"/>
              </a:defRPr>
            </a:pPr>
            <a:r>
              <a:t>百亿级项目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75904" y="4507992"/>
            <a:ext cx="33832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7A7A8A"/>
                </a:solidFill>
                <a:latin typeface="微软雅黑"/>
              </a:defRPr>
            </a:pPr>
            <a:r>
              <a:t>新紫光集团中部基地 · 存储产业配套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75904" y="4828032"/>
            <a:ext cx="329184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75904" y="4919472"/>
            <a:ext cx="33832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紫光集团 · 国科微存储 · 岳阳临港半导体产业园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龙头与重点企业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6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05840"/>
            <a:ext cx="36576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06070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中车时代半导体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33502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株洲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53619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功率半导体IDM龙头，2025半导体收入53.6亿(+30%)，全球少数IGBT+SiC全技术企业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01168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0392B"/>
                </a:solidFill>
                <a:latin typeface="微软雅黑"/>
              </a:defRPr>
            </a:pPr>
            <a:r>
              <a:t>国家队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005840"/>
            <a:ext cx="36576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106070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三安半导体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133502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长沙·高新区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153619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国内SiC产业先行者，160亿产业园，8英寸SiC全产业链贯通，上车理想汽车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201168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0392B"/>
                </a:solidFill>
                <a:latin typeface="微软雅黑"/>
              </a:defRPr>
            </a:pPr>
            <a:r>
              <a:t>SiC龙头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005840"/>
            <a:ext cx="36576" cy="123444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06070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景嘉微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33502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153619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国产GPU龙头，军民融合，"两芯一生态"GPU芯片唯一供应商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01168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006C67"/>
                </a:solidFill>
                <a:latin typeface="微软雅黑"/>
              </a:defRPr>
            </a:pPr>
            <a:r>
              <a:t>芯片设计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100584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81160" y="1005840"/>
            <a:ext cx="36576" cy="123444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90888" y="106070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国科微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0888" y="133502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0888" y="153619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国产SSD控制器芯片龙头，"七大类芯片"之一，国家级专精特新小巨人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0888" y="201168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006C67"/>
                </a:solidFill>
                <a:latin typeface="微软雅黑"/>
              </a:defRPr>
            </a:pPr>
            <a:r>
              <a:t>芯片设计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2331720"/>
            <a:ext cx="36576" cy="123444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238658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飞腾信息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266090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长沙(研发中心)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286207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国产CPU龙头之一，飞腾CPU为"两芯一生态"核心，信创CPU主力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333756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D46A1A"/>
                </a:solidFill>
                <a:latin typeface="微软雅黑"/>
              </a:defRPr>
            </a:pPr>
            <a:r>
              <a:t>"两芯"核心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20440" y="2331720"/>
            <a:ext cx="36576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0168" y="238658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邵虹基板玻璃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266090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邵阳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0168" y="286207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显示基板玻璃国产替代，3条热端+2条冷端产线，第4条热端在设计阶段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0168" y="333756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0392B"/>
                </a:solidFill>
                <a:latin typeface="微软雅黑"/>
              </a:defRPr>
            </a:pPr>
            <a:r>
              <a:t>十大产业项目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2331720"/>
            <a:ext cx="36576" cy="123444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238658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金博股份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0528" y="266090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286207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碳基材料龙头，半导体热场材料，创新联合体，碳化硅涂层技术领先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0528" y="333756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49A2A"/>
                </a:solidFill>
                <a:latin typeface="微软雅黑"/>
              </a:defRPr>
            </a:pPr>
            <a:r>
              <a:t>创新联合体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233172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81160" y="2331720"/>
            <a:ext cx="36576" cy="1234440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90888" y="238658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湘江鲲鹏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90888" y="266090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90888" y="286207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华为鲲鹏生态核心伙伴(拓维信息控股90%)，国产服务器/PC整机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90888" y="333756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2E864B"/>
                </a:solidFill>
                <a:latin typeface="微软雅黑"/>
              </a:defRPr>
            </a:pPr>
            <a:r>
              <a:t>鲲鹏生态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3657600"/>
            <a:ext cx="36576" cy="1234440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" y="371246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国创越摩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8" y="398678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湘潭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418795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先进封装项目(二期)，SiP/3D封装技术，填补湖南封测产业链关键环节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8" y="466344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1A2E5C"/>
                </a:solidFill>
                <a:latin typeface="微软雅黑"/>
              </a:defRPr>
            </a:pPr>
            <a:r>
              <a:t>先进封装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2044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20440" y="3657600"/>
            <a:ext cx="36576" cy="1234440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30168" y="371246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图灵智算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98678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30168" y="418795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宽谱域光电+量子计算，AI算力与半导体协同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30168" y="466344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6C3480"/>
                </a:solidFill>
                <a:latin typeface="微软雅黑"/>
              </a:defRPr>
            </a:pPr>
            <a:r>
              <a:t>量子+AI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0" y="3657600"/>
            <a:ext cx="36576" cy="1234440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10528" y="371246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江丰电子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0528" y="398678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0528" y="418795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全球靶材龙头，益阳基地全球最大外埠，半导体溅射靶材年产值超7.5亿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0528" y="466344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006C67"/>
                </a:solidFill>
                <a:latin typeface="微软雅黑"/>
              </a:defRPr>
            </a:pPr>
            <a:r>
              <a:t>靶材龙头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81160" y="365760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81160" y="3657600"/>
            <a:ext cx="36576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90888" y="371246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蓝思科技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90888" y="398678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长沙·浏阳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90888" y="418795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3D玻璃+智能装备，年产1万台自动化设备+50万台机器人，半导体应用材料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90888" y="466344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0392B"/>
                </a:solidFill>
                <a:latin typeface="微软雅黑"/>
              </a:defRPr>
            </a:pPr>
            <a:r>
              <a:t>十大产业项目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080" y="4983480"/>
            <a:ext cx="36576" cy="1234440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9808" y="503834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阿秒光学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808" y="531266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郴州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8" y="551383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激光蚀刻设备，半导体制造精密加工，良品率98.6%，上市后备企业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808" y="598932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C49A2A"/>
                </a:solidFill>
                <a:latin typeface="微软雅黑"/>
              </a:defRPr>
            </a:pPr>
            <a:r>
              <a:t>精密设备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52044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20440" y="4983480"/>
            <a:ext cx="36576" cy="1234440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30168" y="503834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信维电科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30168" y="531266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益阳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30168" y="551383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MLCC多层陶瓷电容器，5G/半导体配套高端电子元器件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598932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2E864B"/>
                </a:solidFill>
                <a:latin typeface="微软雅黑"/>
              </a:defRPr>
            </a:pPr>
            <a:r>
              <a:t>电子元器件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0" y="4983480"/>
            <a:ext cx="36576" cy="1234440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510528" y="503834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美程陶瓷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10528" y="531266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娄底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10528" y="551383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新能源汽车电子陶瓷，半导体封装用陶瓷基板，娄底半导体材料龙头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10528" y="598932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D46A1A"/>
                </a:solidFill>
                <a:latin typeface="微软雅黑"/>
              </a:defRPr>
            </a:pPr>
            <a:r>
              <a:t>陶瓷基板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281160" y="4983480"/>
            <a:ext cx="2788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281160" y="4983480"/>
            <a:ext cx="36576" cy="1234440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390888" y="5038344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赛德雷特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90888" y="5312664"/>
            <a:ext cx="2606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株洲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90888" y="5513832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800" b="0">
                <a:solidFill>
                  <a:srgbClr val="4A4A4A"/>
                </a:solidFill>
                <a:latin typeface="微软雅黑"/>
              </a:defRPr>
            </a:pPr>
            <a:r>
              <a:t>半导体衬底材料，SiC/GaN外延配套，株洲功率半导体集群关键企业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90888" y="5989320"/>
            <a:ext cx="109728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1">
                <a:solidFill>
                  <a:srgbClr val="1A2E5C"/>
                </a:solidFill>
                <a:latin typeface="微软雅黑"/>
              </a:defRPr>
            </a:pPr>
            <a:r>
              <a:t>衬底材料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创新平台与科研支撑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7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188720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188720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功率半导体行业联盟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69164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株洲·国家级行业组织</a:t>
            </a:r>
            <a:br/>
            <a:r>
              <a:t>涵盖材料-芯片-模块-应用全产业链协同创新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1051560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53712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188720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1188720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湖南省集成电路产业联盟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69164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长沙经开区2025年成立</a:t>
            </a:r>
            <a:br/>
            <a:r>
              <a:t>整合国科微、国防科大等资源，配套50亿元专项基金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1051560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0184" y="1188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4" y="1188720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1188720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国家功率半导体创新中心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1691640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株洲·国家级创新平台</a:t>
            </a:r>
            <a:br/>
            <a:r>
              <a:t>IGBT/SiC技术研发+中试+检测认证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724912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862072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2862072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湖南三安半导体研究院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364992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长沙高新区</a:t>
            </a:r>
            <a:br/>
            <a:r>
              <a:t>SiC/GaN材料与器件研发，8英寸产线技术攻关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16552" y="2724912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53712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2862072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2862072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高校科研力量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364992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国防科大 · 湖南大学 · 中南大学</a:t>
            </a:r>
            <a:br/>
            <a:r>
              <a:t>在功率器件、封装技术、EDA工具等领域深度布局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93024" y="2724912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30184" y="28620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0184" y="2862072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87384" y="2862072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第三代半导体产业研究院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4" y="3364992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长沙·产学研协同</a:t>
            </a:r>
            <a:br/>
            <a:r>
              <a:t>聚焦SiC/GaN材料、器件、模组产业化技术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398264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535424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535424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湖南省半导体行业协会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038344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全省行业组织</a:t>
            </a:r>
            <a:br/>
            <a:r>
              <a:t>政策对接、产业研究、企业服务、招商引资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16552" y="4398264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53712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53712" y="4535424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10912" y="4535424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功率半导体可靠性实验室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3712" y="5038344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株洲中车+高校联合</a:t>
            </a:r>
            <a:br/>
            <a:r>
              <a:t>功率器件可靠性测试、寿命评估、失效分析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4398264"/>
            <a:ext cx="3657600" cy="1536192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330184" y="45354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0184" y="4535424"/>
            <a:ext cx="3657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4535424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200" b="1">
                <a:solidFill>
                  <a:srgbClr val="2C2C2C"/>
                </a:solidFill>
                <a:latin typeface="微软雅黑"/>
              </a:defRPr>
            </a:pPr>
            <a:r>
              <a:t>集成电路产业园（长沙）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0184" y="5038344"/>
            <a:ext cx="3383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  <a:defRPr sz="900" b="0">
                <a:solidFill>
                  <a:srgbClr val="4A4A4A"/>
                </a:solidFill>
                <a:latin typeface="微软雅黑"/>
              </a:defRPr>
            </a:pPr>
            <a:r>
              <a:t>长沙经开区200亩</a:t>
            </a:r>
            <a:br/>
            <a:r>
              <a:t>配套50亿元专项基金，吸引第三代半导体企业入驻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286000"/>
            <a:ext cx="100584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8B1A1A"/>
                </a:solidFill>
                <a:latin typeface="微软雅黑"/>
              </a:defRPr>
            </a:pPr>
            <a:r>
              <a:t>政策支撑体系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841248"/>
            <a:ext cx="1097280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1000" b="0">
                <a:solidFill>
                  <a:srgbClr val="AAAAB8"/>
                </a:solidFill>
                <a:latin typeface="微软雅黑"/>
              </a:defRPr>
            </a:pPr>
            <a:r>
              <a:t>8 / 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6492240"/>
            <a:ext cx="109728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537960"/>
            <a:ext cx="7315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湖南省半导体产业全景图  |  2026年度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37960"/>
            <a:ext cx="32004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  <a:defRPr sz="800" b="0">
                <a:solidFill>
                  <a:srgbClr val="AAAAB8"/>
                </a:solidFill>
                <a:latin typeface="微软雅黑"/>
              </a:defRPr>
            </a:pPr>
            <a:r>
              <a:t>基于公开信息整理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51560"/>
            <a:ext cx="54864" cy="120700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143000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8B1A1A"/>
                </a:solidFill>
                <a:latin typeface="微软雅黑"/>
              </a:defRPr>
            </a:pPr>
            <a:r>
              <a:t>顶层规划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124712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湖南省"十五五"电子信息产业规划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54480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谋划半导体产业布局，功率半导体+第三代半导体列入重点方向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051560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54864" cy="1207008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43000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D46A1A"/>
                </a:solidFill>
                <a:latin typeface="微软雅黑"/>
              </a:defRPr>
            </a:pPr>
            <a:r>
              <a:t>重点项目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124712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2026电子信息制造业重点项目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总投资1571.74亿元，50个项目，6个百亿级，聚焦功率半导体全产业链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350008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350008"/>
            <a:ext cx="54864" cy="1207008"/>
          </a:xfrm>
          <a:prstGeom prst="rect">
            <a:avLst/>
          </a:prstGeom>
          <a:solidFill>
            <a:srgbClr val="C49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441448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C49A2A"/>
                </a:solidFill>
                <a:latin typeface="微软雅黑"/>
              </a:defRPr>
            </a:pPr>
            <a:r>
              <a:t>产业集群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423160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国家级功率半导体产业集群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852928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株洲功率半导体集群入选国家队，集聚220+企业、11个国家级创新平台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50008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350008"/>
            <a:ext cx="54864" cy="1207008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41448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006C67"/>
                </a:solidFill>
                <a:latin typeface="微软雅黑"/>
              </a:defRPr>
            </a:pPr>
            <a:r>
              <a:t>专项基金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423160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集成电路50亿专项基金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52928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长沙经开区配套50亿元专项基金，重点吸引第三代半导体、先进封装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48456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648456"/>
            <a:ext cx="54864" cy="1207008"/>
          </a:xfrm>
          <a:prstGeom prst="rect">
            <a:avLst/>
          </a:prstGeom>
          <a:solidFill>
            <a:srgbClr val="2E8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39896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2E864B"/>
                </a:solidFill>
                <a:latin typeface="微软雅黑"/>
              </a:defRPr>
            </a:pPr>
            <a:r>
              <a:t>园区载体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3721608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长沙集成电路产业园200亩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151376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整合国科微+国防科大资源，2025年成立集成电路产业联盟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48456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48456"/>
            <a:ext cx="54864" cy="1207008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739896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1A2E5C"/>
                </a:solidFill>
                <a:latin typeface="微软雅黑"/>
              </a:defRPr>
            </a:pPr>
            <a:r>
              <a:t>人才政策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721608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半导体人才产教融合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51376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国防科大/湖大/中南大学半导体相关学科，领军团队最高1亿项目支持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946904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4946904"/>
            <a:ext cx="54864" cy="1207008"/>
          </a:xfrm>
          <a:prstGeom prst="rect">
            <a:avLst/>
          </a:prstGeom>
          <a:solidFill>
            <a:srgbClr val="6C3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038344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6C3480"/>
                </a:solidFill>
                <a:latin typeface="微软雅黑"/>
              </a:defRPr>
            </a:pPr>
            <a:r>
              <a:t>税收优惠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5020056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集成电路企业所得税减免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49824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"十免""五免五减半"等税收优惠，研发费用加计扣除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946904"/>
            <a:ext cx="557784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946904"/>
            <a:ext cx="54864" cy="1207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038344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900" b="1">
                <a:solidFill>
                  <a:srgbClr val="C0392B"/>
                </a:solidFill>
                <a:latin typeface="微软雅黑"/>
              </a:defRPr>
            </a:pPr>
            <a:r>
              <a:t>成果转化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020056"/>
            <a:ext cx="44805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300" b="1">
                <a:solidFill>
                  <a:srgbClr val="2C2C2C"/>
                </a:solidFill>
                <a:latin typeface="微软雅黑"/>
              </a:defRPr>
            </a:pPr>
            <a:r>
              <a:t>"先用后付"科技成果转化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49824"/>
            <a:ext cx="530352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首批537项科技成果推广，支持半导体共性技术加速产业化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2800" b="1">
                <a:solidFill>
                  <a:srgbClr val="8B1A1A"/>
                </a:solidFill>
                <a:latin typeface="微软雅黑"/>
              </a:defRPr>
            </a:pPr>
            <a:r>
              <a:t>总结与展望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280160"/>
            <a:ext cx="10789920" cy="0"/>
          </a:xfrm>
          <a:prstGeom prst="line">
            <a:avLst/>
          </a:prstGeom>
          <a:ln w="1270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2400" b="1">
                <a:solidFill>
                  <a:srgbClr val="2C2C2C"/>
                </a:solidFill>
                <a:latin typeface="微软雅黑"/>
              </a:defRPr>
            </a:pPr>
            <a:r>
              <a:t>湖南半导体产业 — 从"功率半导体"到"第三代半导体"双轮驱动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2697480" cy="347472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2697480" cy="5486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828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F0E0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49040"/>
            <a:ext cx="548640" cy="2743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23317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1">
                <a:solidFill>
                  <a:srgbClr val="8B1A1A"/>
                </a:solidFill>
                <a:latin typeface="微软雅黑"/>
              </a:defRPr>
            </a:pPr>
            <a:r>
              <a:t>SiC/GaN进入放量期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23317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湖南三安8英寸SiC全产业链贯通、中车时代8英寸SiC产线通线，2026年均进入产能爬坡期。车规级SiC主驱芯片规模化装车，AI服务器电源SiC需求爆发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560320"/>
            <a:ext cx="2697480" cy="347472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560320"/>
            <a:ext cx="2697480" cy="54864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788920"/>
            <a:ext cx="1828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F0E0D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749040"/>
            <a:ext cx="548640" cy="27432"/>
          </a:xfrm>
          <a:prstGeom prst="rect">
            <a:avLst/>
          </a:prstGeom>
          <a:solidFill>
            <a:srgbClr val="D4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931920"/>
            <a:ext cx="23317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1">
                <a:solidFill>
                  <a:srgbClr val="D46A1A"/>
                </a:solidFill>
                <a:latin typeface="微软雅黑"/>
              </a:defRPr>
            </a:pPr>
            <a:r>
              <a:t>功率半导体全链自主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480560"/>
            <a:ext cx="23317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中车时代IGBT/SiC双技术路线并进，第四代沟槽栅突破。株洲功率半导体集群规模595亿，从"卡脖子"到全球市占率第一，正朝"世界前三强"目标迈进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560320"/>
            <a:ext cx="2697480" cy="347472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560320"/>
            <a:ext cx="2697480" cy="54864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1828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F0E0D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749040"/>
            <a:ext cx="548640" cy="27432"/>
          </a:xfrm>
          <a:prstGeom prst="rect">
            <a:avLst/>
          </a:prstGeom>
          <a:solidFill>
            <a:srgbClr val="006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31920"/>
            <a:ext cx="23317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1">
                <a:solidFill>
                  <a:srgbClr val="006C67"/>
                </a:solidFill>
                <a:latin typeface="微软雅黑"/>
              </a:defRPr>
            </a:pPr>
            <a:r>
              <a:t>先进封装补链强链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80560"/>
            <a:ext cx="23317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国创越摩先进封装二期、湘潭智造基地推进，SiP/3D封装填补产业链关键环节。SiC模块封装、银烧结等新技术加速导入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560320"/>
            <a:ext cx="2697480" cy="3474720"/>
          </a:xfrm>
          <a:prstGeom prst="rect">
            <a:avLst/>
          </a:prstGeom>
          <a:solidFill>
            <a:srgbClr val="FDF7F5"/>
          </a:solidFill>
          <a:ln w="6350">
            <a:solidFill>
              <a:srgbClr val="E8DE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2560320"/>
            <a:ext cx="2697480" cy="54864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788920"/>
            <a:ext cx="1828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4800" b="1">
                <a:solidFill>
                  <a:srgbClr val="F0E0D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3749040"/>
            <a:ext cx="548640" cy="27432"/>
          </a:xfrm>
          <a:prstGeom prst="rect">
            <a:avLst/>
          </a:prstGeom>
          <a:solidFill>
            <a:srgbClr val="1A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931920"/>
            <a:ext cx="23317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  <a:defRPr sz="1600" b="1">
                <a:solidFill>
                  <a:srgbClr val="1A2E5C"/>
                </a:solidFill>
                <a:latin typeface="微软雅黑"/>
              </a:defRPr>
            </a:pPr>
            <a:r>
              <a:t>产业生态加速成型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480560"/>
            <a:ext cx="23317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 b="0">
                <a:solidFill>
                  <a:srgbClr val="4A4A4A"/>
                </a:solidFill>
                <a:latin typeface="微软雅黑"/>
              </a:defRPr>
            </a:pPr>
            <a:r>
              <a:t>2026年50个重点项目、总投资超1500亿。长沙设计+株洲制造+湘潭封测+娄底材料+邵阳基板+岳阳存储，六大集聚区差异化协同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6126480"/>
            <a:ext cx="10515600" cy="0"/>
          </a:xfrm>
          <a:prstGeom prst="line">
            <a:avLst/>
          </a:prstGeom>
          <a:ln w="6350">
            <a:solidFill>
              <a:srgbClr val="E8D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6172200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  <a:defRPr sz="900" b="0">
                <a:solidFill>
                  <a:srgbClr val="AAAAB8"/>
                </a:solidFill>
                <a:latin typeface="微软雅黑"/>
              </a:defRPr>
            </a:pPr>
            <a:r>
              <a:t>数据来源：湖南省工业和信息化厅 · 红网 · 中国证券报 · 时代电气年报 · 三安光电年报  |  2026年度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