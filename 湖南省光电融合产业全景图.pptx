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560320"/>
            <a:ext cx="109728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D0B8E8"/>
                </a:solidFill>
                <a:latin typeface="Arial"/>
              </a:defRPr>
            </a:pPr>
            <a:r>
              <a:t>HUNAN OPTOELECTRONIC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D0B8E8"/>
                </a:solidFill>
                <a:latin typeface="Arial"/>
              </a:defRPr>
            </a:pPr>
            <a:r>
              <a:t>FUSION INDUSTRY PANORAMA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3200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9AD8"/>
                </a:solidFill>
                <a:latin typeface="Arial"/>
              </a:defRPr>
            </a:pPr>
            <a:r>
              <a:t>2026 INDUSTRY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6858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C49A2A"/>
                </a:solidFill>
                <a:latin typeface="微软雅黑"/>
              </a:defRPr>
            </a:pPr>
            <a:r>
              <a:t>产业研究报告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468880"/>
            <a:ext cx="68580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4000" b="1">
                <a:solidFill>
                  <a:srgbClr val="660099"/>
                </a:solidFill>
                <a:latin typeface="微软雅黑"/>
              </a:defRPr>
            </a:pPr>
            <a:r>
              <a:t>湖南省光电融合</a:t>
            </a:r>
            <a:br/>
            <a:r>
              <a:t>产业全景图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794760"/>
            <a:ext cx="731520" cy="36576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931920"/>
            <a:ext cx="6858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7A7A8A"/>
                </a:solidFill>
                <a:latin typeface="微软雅黑"/>
              </a:defRPr>
            </a:pPr>
            <a:r>
              <a:t>4×4 现代化产业体系  ·  十五五规划关键之年  ·  2026年度产业图谱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754880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660099"/>
                </a:solidFill>
                <a:latin typeface="Arial"/>
              </a:defRPr>
            </a:pPr>
            <a:r>
              <a:t>1,571.74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892040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AAAAB8"/>
                </a:solidFill>
                <a:latin typeface="微软雅黑"/>
              </a:defRPr>
            </a:pPr>
            <a:r>
              <a:t>亿元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5166360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7A7A8A"/>
                </a:solidFill>
                <a:latin typeface="微软雅黑"/>
              </a:defRPr>
            </a:pPr>
            <a:r>
              <a:t>重点项目总投资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754880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660099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892040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AAAAB8"/>
                </a:solidFill>
                <a:latin typeface="微软雅黑"/>
              </a:defRPr>
            </a:pPr>
            <a:r>
              <a:t>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166360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7A7A8A"/>
                </a:solidFill>
                <a:latin typeface="微软雅黑"/>
              </a:defRPr>
            </a:pPr>
            <a:r>
              <a:t>重点项目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754880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660099"/>
                </a:solidFill>
                <a:latin typeface="Arial"/>
              </a:defRPr>
            </a:pPr>
            <a:r>
              <a:t>478.91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892040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AAAAB8"/>
                </a:solidFill>
                <a:latin typeface="微软雅黑"/>
              </a:defRPr>
            </a:pPr>
            <a:r>
              <a:t>亿元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66360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7A7A8A"/>
                </a:solidFill>
                <a:latin typeface="微软雅黑"/>
              </a:defRPr>
            </a:pPr>
            <a:r>
              <a:t>预计新增营收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4754880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660099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4892040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AAAAB8"/>
                </a:solidFill>
                <a:latin typeface="微软雅黑"/>
              </a:defRPr>
            </a:pPr>
            <a:r>
              <a:t>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5166360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7A7A8A"/>
                </a:solidFill>
                <a:latin typeface="微软雅黑"/>
              </a:defRPr>
            </a:pPr>
            <a:r>
              <a:t>核心集聚城市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54880" y="5852160"/>
            <a:ext cx="6400800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54880" y="5943600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数据来源：湖南省工业和信息化厅 · 湖南省人民政府门户网站 · 湖南日报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660099"/>
                </a:solidFill>
                <a:latin typeface="微软雅黑"/>
              </a:defRPr>
            </a:pPr>
            <a:r>
              <a:t>目  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2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湖南省光电融合产业全景图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097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660099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1417320"/>
            <a:ext cx="0" cy="640080"/>
          </a:xfrm>
          <a:prstGeom prst="line">
            <a:avLst/>
          </a:prstGeom>
          <a:ln w="1270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94560" y="137160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产业链全景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78308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光电融合上中下游全链路解析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280160"/>
            <a:ext cx="1097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006C67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80" y="1417320"/>
            <a:ext cx="0" cy="640080"/>
          </a:xfrm>
          <a:prstGeom prst="line">
            <a:avLst/>
          </a:prstGeom>
          <a:ln w="1270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80960" y="137160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区域布局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78308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七大核心产业集聚区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34639"/>
            <a:ext cx="1097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C49A2A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11680" y="2971799"/>
            <a:ext cx="0" cy="640080"/>
          </a:xfrm>
          <a:prstGeom prst="line">
            <a:avLst/>
          </a:prstGeom>
          <a:ln w="1270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94560" y="2926079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重点企业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337559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16家龙头与重点企业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34639"/>
            <a:ext cx="1097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4B2E73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80" y="2971799"/>
            <a:ext cx="0" cy="640080"/>
          </a:xfrm>
          <a:prstGeom prst="line">
            <a:avLst/>
          </a:prstGeom>
          <a:ln w="1270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80960" y="2926079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创新平台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337559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科研平台与高校力量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389120"/>
            <a:ext cx="1097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9C2828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4526280"/>
            <a:ext cx="0" cy="640080"/>
          </a:xfrm>
          <a:prstGeom prst="line">
            <a:avLst/>
          </a:prstGeom>
          <a:ln w="1270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194560" y="448056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政策支撑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489204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8项核心政策体系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389120"/>
            <a:ext cx="1097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1A2E5C"/>
                </a:solidFill>
                <a:latin typeface="Arial"/>
              </a:defRPr>
            </a:pPr>
            <a:r>
              <a:t>06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98080" y="4526280"/>
            <a:ext cx="0" cy="640080"/>
          </a:xfrm>
          <a:prstGeom prst="line">
            <a:avLst/>
          </a:prstGeom>
          <a:ln w="1270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680960" y="448056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发展趋势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89204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四大未来方向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660099"/>
                </a:solidFill>
                <a:latin typeface="微软雅黑"/>
              </a:defRPr>
            </a:pPr>
            <a:r>
              <a:t>光电融合产业链全景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3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湖南省光电融合产业全景图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51560"/>
            <a:ext cx="1188720" cy="1508760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1188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上游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11887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E0D0F0"/>
                </a:solidFill>
                <a:latin typeface="微软雅黑"/>
              </a:defRPr>
            </a:pPr>
            <a:r>
              <a:t>材料 · 芯片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1051560"/>
            <a:ext cx="2029968" cy="150876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65960" y="1051560"/>
            <a:ext cx="2029968" cy="27432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1188720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660099"/>
                </a:solidFill>
                <a:latin typeface="微软雅黑"/>
              </a:defRPr>
            </a:pPr>
            <a:r>
              <a:t>光电材料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1508760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基板玻璃、光电特种气体、靶材、光纤预制棒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57400" y="2103120"/>
            <a:ext cx="1847088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57400" y="2167128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60099"/>
                </a:solidFill>
                <a:latin typeface="微软雅黑"/>
              </a:defRPr>
            </a:pPr>
            <a:r>
              <a:t>邵虹 · 中化蓝天 · 江丰电子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1051560"/>
            <a:ext cx="2029968" cy="150876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69080" y="1051560"/>
            <a:ext cx="2029968" cy="27432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1188720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660099"/>
                </a:solidFill>
                <a:latin typeface="微软雅黑"/>
              </a:defRPr>
            </a:pPr>
            <a:r>
              <a:t>光芯片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1508760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DFB/EML激光芯片、探测器、硅光芯片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60520" y="2103120"/>
            <a:ext cx="1847088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60520" y="2167128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60099"/>
                </a:solidFill>
                <a:latin typeface="微软雅黑"/>
              </a:defRPr>
            </a:pPr>
            <a:r>
              <a:t>硅基Micro-LED · 高速EML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051560"/>
            <a:ext cx="2029968" cy="150876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1051560"/>
            <a:ext cx="2029968" cy="27432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188720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660099"/>
                </a:solidFill>
                <a:latin typeface="微软雅黑"/>
              </a:defRPr>
            </a:pPr>
            <a:r>
              <a:t>功率半导体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508760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IGBT、MOSFET、第三代半导体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63640" y="2103120"/>
            <a:ext cx="1847088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63640" y="2167128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60099"/>
                </a:solidFill>
                <a:latin typeface="微软雅黑"/>
              </a:defRPr>
            </a:pPr>
            <a:r>
              <a:t>中车时代半导体 · 三一硅能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1051560"/>
            <a:ext cx="2029968" cy="150876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20" y="1051560"/>
            <a:ext cx="2029968" cy="27432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1188720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660099"/>
                </a:solidFill>
                <a:latin typeface="微软雅黑"/>
              </a:defRPr>
            </a:pPr>
            <a:r>
              <a:t>光纤光缆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508760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单模/多模光纤、特种光纤、MPO连接器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66760" y="2103120"/>
            <a:ext cx="1847088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366760" y="2167128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60099"/>
                </a:solidFill>
                <a:latin typeface="微软雅黑"/>
              </a:defRPr>
            </a:pPr>
            <a:r>
              <a:t>信维电子 · 艾迪奥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78440" y="1051560"/>
            <a:ext cx="2029968" cy="150876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78440" y="1051560"/>
            <a:ext cx="2029968" cy="27432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9880" y="1188720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660099"/>
                </a:solidFill>
                <a:latin typeface="微软雅黑"/>
              </a:defRPr>
            </a:pPr>
            <a:r>
              <a:t>光学元器件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1508760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光学镜头、偏光片、光学透镜、滤光片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469880" y="2103120"/>
            <a:ext cx="1847088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469880" y="2167128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60099"/>
                </a:solidFill>
                <a:latin typeface="微软雅黑"/>
              </a:defRPr>
            </a:pPr>
            <a:r>
              <a:t>山嘉光电 · 谱特光电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770632"/>
            <a:ext cx="1188720" cy="1508760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044952"/>
            <a:ext cx="1188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中游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3547872"/>
            <a:ext cx="11887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E0D0F0"/>
                </a:solidFill>
                <a:latin typeface="微软雅黑"/>
              </a:defRPr>
            </a:pPr>
            <a:r>
              <a:t>器件 · 模组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65960" y="2770632"/>
            <a:ext cx="2029968" cy="150876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65960" y="2770632"/>
            <a:ext cx="2029968" cy="27432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907792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006C67"/>
                </a:solidFill>
                <a:latin typeface="微软雅黑"/>
              </a:defRPr>
            </a:pPr>
            <a:r>
              <a:t>新型显示面板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227832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LCD/OLED面板、Mini-LED背光/直显模组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057400" y="3822192"/>
            <a:ext cx="1847088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057400" y="3886200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006C67"/>
                </a:solidFill>
                <a:latin typeface="微软雅黑"/>
              </a:defRPr>
            </a:pPr>
            <a:r>
              <a:t>惠科 · 中沛光电 · 蓝思科技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69080" y="2770632"/>
            <a:ext cx="2029968" cy="150876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69080" y="2770632"/>
            <a:ext cx="2029968" cy="27432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60520" y="2907792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006C67"/>
                </a:solidFill>
                <a:latin typeface="微软雅黑"/>
              </a:defRPr>
            </a:pPr>
            <a:r>
              <a:t>光通信器件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60520" y="3227832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光模块、光收发组件、激光器、光放大器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160520" y="3822192"/>
            <a:ext cx="1847088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160520" y="3886200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006C67"/>
                </a:solidFill>
                <a:latin typeface="微软雅黑"/>
              </a:defRPr>
            </a:pPr>
            <a:r>
              <a:t>光智通信 · 图灵智算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2200" y="2770632"/>
            <a:ext cx="2029968" cy="150876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72200" y="2770632"/>
            <a:ext cx="2029968" cy="27432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2907792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006C67"/>
                </a:solidFill>
                <a:latin typeface="微软雅黑"/>
              </a:defRPr>
            </a:pPr>
            <a:r>
              <a:t>光电传感与精密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227832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激光蚀刻设备、光电传感器、COG绑定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263640" y="3822192"/>
            <a:ext cx="1847088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263640" y="3886200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006C67"/>
                </a:solidFill>
                <a:latin typeface="微软雅黑"/>
              </a:defRPr>
            </a:pPr>
            <a:r>
              <a:t>阿秒光学 · 弘宇精密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75320" y="2770632"/>
            <a:ext cx="2029968" cy="150876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75320" y="2770632"/>
            <a:ext cx="2029968" cy="27432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66760" y="2907792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006C67"/>
                </a:solidFill>
                <a:latin typeface="微软雅黑"/>
              </a:defRPr>
            </a:pPr>
            <a:r>
              <a:t>半导体封测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3227832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功率器件封装、集成电路制造、智能装备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366760" y="3822192"/>
            <a:ext cx="1847088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366760" y="3886200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006C67"/>
                </a:solidFill>
                <a:latin typeface="微软雅黑"/>
              </a:defRPr>
            </a:pPr>
            <a:r>
              <a:t>湘潭智造基地 · 明正宏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378440" y="2770632"/>
            <a:ext cx="2029968" cy="150876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378440" y="2770632"/>
            <a:ext cx="2029968" cy="27432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69880" y="2907792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006C67"/>
                </a:solidFill>
                <a:latin typeface="微软雅黑"/>
              </a:defRPr>
            </a:pPr>
            <a:r>
              <a:t>光电功能材料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69880" y="3227832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碳基材料、光电薄膜、3D玻璃、柔性材料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469880" y="3822192"/>
            <a:ext cx="1847088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0469880" y="3886200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006C67"/>
                </a:solidFill>
                <a:latin typeface="微软雅黑"/>
              </a:defRPr>
            </a:pPr>
            <a:r>
              <a:t>金博股份 · 麓邦光电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" y="4489704"/>
            <a:ext cx="1188720" cy="1508760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4764024"/>
            <a:ext cx="1188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下游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266944"/>
            <a:ext cx="11887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E0D0F0"/>
                </a:solidFill>
                <a:latin typeface="微软雅黑"/>
              </a:defRPr>
            </a:pPr>
            <a:r>
              <a:t>应用 · 终端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65960" y="4489704"/>
            <a:ext cx="2029968" cy="150876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965960" y="4489704"/>
            <a:ext cx="2029968" cy="27432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57400" y="4626864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C49A2A"/>
                </a:solidFill>
                <a:latin typeface="微软雅黑"/>
              </a:defRPr>
            </a:pPr>
            <a:r>
              <a:t>智能终端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4946904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智能手机、智能穿戴、具身智能机器人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057400" y="5541264"/>
            <a:ext cx="1847088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2057400" y="5605272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C49A2A"/>
                </a:solidFill>
                <a:latin typeface="微软雅黑"/>
              </a:defRPr>
            </a:pPr>
            <a:r>
              <a:t>蓝思机器人 · 中沛手机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69080" y="4489704"/>
            <a:ext cx="2029968" cy="150876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069080" y="4489704"/>
            <a:ext cx="2029968" cy="27432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60520" y="4626864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C49A2A"/>
                </a:solidFill>
                <a:latin typeface="微软雅黑"/>
              </a:defRPr>
            </a:pPr>
            <a:r>
              <a:t>数据中心与算力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60520" y="4946904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AI智算中心、超算中心、高速光互联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4160520" y="5541264"/>
            <a:ext cx="1847088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4160520" y="5605272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C49A2A"/>
                </a:solidFill>
                <a:latin typeface="微软雅黑"/>
              </a:defRPr>
            </a:pPr>
            <a:r>
              <a:t>图灵智算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72200" y="4489704"/>
            <a:ext cx="2029968" cy="150876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72200" y="4489704"/>
            <a:ext cx="2029968" cy="27432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63640" y="4626864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C49A2A"/>
                </a:solidFill>
                <a:latin typeface="微软雅黑"/>
              </a:defRPr>
            </a:pPr>
            <a:r>
              <a:t>5G通信与网络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4946904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5G基站光模块、光传输网络、运营商集采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6263640" y="5541264"/>
            <a:ext cx="1847088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263640" y="5605272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C49A2A"/>
                </a:solidFill>
                <a:latin typeface="微软雅黑"/>
              </a:defRPr>
            </a:pPr>
            <a:r>
              <a:t>光智通信 · 信维电科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75320" y="4489704"/>
            <a:ext cx="2029968" cy="150876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75320" y="4489704"/>
            <a:ext cx="2029968" cy="27432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366760" y="4626864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C49A2A"/>
                </a:solidFill>
                <a:latin typeface="微软雅黑"/>
              </a:defRPr>
            </a:pPr>
            <a:r>
              <a:t>安防与车载光电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66760" y="4946904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安防监控光电系统、车载激光雷达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8366760" y="5541264"/>
            <a:ext cx="1847088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8366760" y="5605272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C49A2A"/>
                </a:solidFill>
                <a:latin typeface="微软雅黑"/>
              </a:defRPr>
            </a:pPr>
            <a:r>
              <a:t>英飞拓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378440" y="4489704"/>
            <a:ext cx="2029968" cy="150876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378440" y="4489704"/>
            <a:ext cx="2029968" cy="27432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469880" y="4626864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C49A2A"/>
                </a:solidFill>
                <a:latin typeface="微软雅黑"/>
              </a:defRPr>
            </a:pPr>
            <a:r>
              <a:t>新型显示终端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69880" y="4946904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大尺寸显示整机、LED直显、Mini-LED背光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0469880" y="5541264"/>
            <a:ext cx="1847088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469880" y="5605272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C49A2A"/>
                </a:solidFill>
                <a:latin typeface="微软雅黑"/>
              </a:defRPr>
            </a:pPr>
            <a:r>
              <a:t>惠科直显 · 明和数艺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660099"/>
                </a:solidFill>
                <a:latin typeface="微软雅黑"/>
              </a:defRPr>
            </a:pPr>
            <a:r>
              <a:t>七大核心产业集聚区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4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湖南省光电融合产业全景图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5156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051560"/>
            <a:ext cx="54864" cy="2423160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161288"/>
            <a:ext cx="182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660099"/>
                </a:solidFill>
                <a:latin typeface="微软雅黑"/>
              </a:defRPr>
            </a:pPr>
            <a:r>
              <a:t>省会 · 核心引擎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399032"/>
            <a:ext cx="1828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46304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660099"/>
                </a:solidFill>
                <a:latin typeface="微软雅黑"/>
              </a:defRPr>
            </a:pPr>
            <a:r>
              <a:t>百亿+项目6个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920240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新型显示龙头 · 智能终端 · 先进计算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2240280"/>
            <a:ext cx="3291840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2331720"/>
            <a:ext cx="33832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惠科 · 蓝思科技 · 图灵智算 · 麓邦光电 · 明和数艺 · 韶光芯材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105156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6552" y="1051560"/>
            <a:ext cx="54864" cy="2423160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161288"/>
            <a:ext cx="182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006C67"/>
                </a:solidFill>
                <a:latin typeface="微软雅黑"/>
              </a:defRPr>
            </a:pPr>
            <a:r>
              <a:t>功率半导体国家队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1399032"/>
            <a:ext cx="1828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株洲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146304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006C67"/>
                </a:solidFill>
                <a:latin typeface="微软雅黑"/>
              </a:defRPr>
            </a:pPr>
            <a:r>
              <a:t>220+企业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1920240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功率半导体全产业链 · 国家级产业集群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99432" y="2240280"/>
            <a:ext cx="3291840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99432" y="2331720"/>
            <a:ext cx="33832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中车时代半导体 · 三一硅能 · 赛德雷特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105156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93024" y="1051560"/>
            <a:ext cx="54864" cy="2423160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1161288"/>
            <a:ext cx="182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C49A2A"/>
                </a:solidFill>
                <a:latin typeface="微软雅黑"/>
              </a:defRPr>
            </a:pPr>
            <a:r>
              <a:t>半导体智造基地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1399032"/>
            <a:ext cx="1828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湘潭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9024" y="146304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C49A2A"/>
                </a:solidFill>
                <a:latin typeface="微软雅黑"/>
              </a:defRPr>
            </a:pPr>
            <a:r>
              <a:t>23.8亿投资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1920240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半导体制造 · 智能终端设备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75904" y="2240280"/>
            <a:ext cx="3291840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75904" y="2331720"/>
            <a:ext cx="33832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半导体湘潭智造基地 · 蓝思智能终端 · 锦智光电 · 金杯电工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639312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3639312"/>
            <a:ext cx="54864" cy="2423160"/>
          </a:xfrm>
          <a:prstGeom prst="rect">
            <a:avLst/>
          </a:prstGeom>
          <a:solidFill>
            <a:srgbClr val="4B2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749040"/>
            <a:ext cx="182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4B2E73"/>
                </a:solidFill>
                <a:latin typeface="微软雅黑"/>
              </a:defRPr>
            </a:pPr>
            <a:r>
              <a:t>湖南光电谷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986784"/>
            <a:ext cx="1828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益阳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050792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4B2E73"/>
                </a:solidFill>
                <a:latin typeface="微软雅黑"/>
              </a:defRPr>
            </a:pPr>
            <a:r>
              <a:t>86项专利 · 12项转化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507992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光通信器件 · 光学镜头 · 长益科创走廊节点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2960" y="4828032"/>
            <a:ext cx="3291840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2960" y="4919472"/>
            <a:ext cx="33832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未来光电技术研究院 · 金博股份 · 信维电科 · 光智通信 · 江丰电子 · 明正宏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16552" y="3639312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6552" y="3639312"/>
            <a:ext cx="54864" cy="2423160"/>
          </a:xfrm>
          <a:prstGeom prst="rect">
            <a:avLst/>
          </a:prstGeom>
          <a:solidFill>
            <a:srgbClr val="9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99432" y="3749040"/>
            <a:ext cx="182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9C2828"/>
                </a:solidFill>
                <a:latin typeface="微软雅黑"/>
              </a:defRPr>
            </a:pPr>
            <a:r>
              <a:t>湘南光电谷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9432" y="3986784"/>
            <a:ext cx="1828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郴州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02552" y="4050792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9C2828"/>
                </a:solidFill>
                <a:latin typeface="微软雅黑"/>
              </a:defRPr>
            </a:pPr>
            <a:r>
              <a:t>80亿产值 · 59家企业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9432" y="4507992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光电显示完整产业链 · 湾区产业转移承接地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599432" y="4828032"/>
            <a:ext cx="3291840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99432" y="4919472"/>
            <a:ext cx="33832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宜章经开区 · 北湖湘南光电产业园 · 山嘉光电 · 谱特光电 · 中沛光电 · 英飞拓 · 阿秒光学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93024" y="3639312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93024" y="3639312"/>
            <a:ext cx="54864" cy="2423160"/>
          </a:xfrm>
          <a:prstGeom prst="rect">
            <a:avLst/>
          </a:prstGeom>
          <a:solidFill>
            <a:srgbClr val="1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75904" y="3749040"/>
            <a:ext cx="182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1A2E5C"/>
                </a:solidFill>
                <a:latin typeface="微软雅黑"/>
              </a:defRPr>
            </a:pPr>
            <a:r>
              <a:t>基板玻璃基地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75904" y="3986784"/>
            <a:ext cx="1828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邵阳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79024" y="4050792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1A2E5C"/>
                </a:solidFill>
                <a:latin typeface="微软雅黑"/>
              </a:defRPr>
            </a:pPr>
            <a:r>
              <a:t>4条热端生产线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75904" y="4507992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显示基板玻璃 · 上下游配套集聚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75904" y="4828032"/>
            <a:ext cx="3291840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75904" y="4919472"/>
            <a:ext cx="33832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邵虹基板玻璃 · 致成科技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660099"/>
                </a:solidFill>
                <a:latin typeface="微软雅黑"/>
              </a:defRPr>
            </a:pPr>
            <a:r>
              <a:t>龙头与重点企业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5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湖南省光电融合产业全景图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0584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005840"/>
            <a:ext cx="36576" cy="1234440"/>
          </a:xfrm>
          <a:prstGeom prst="rect">
            <a:avLst/>
          </a:prstGeom>
          <a:solidFill>
            <a:srgbClr val="9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06070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蓝思科技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33502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长沙·浏阳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53619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智能装备基地，年产1万台自动化设备+50万台机器人，3D玻璃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01168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9C2828"/>
                </a:solidFill>
                <a:latin typeface="微软雅黑"/>
              </a:defRPr>
            </a:pPr>
            <a:r>
              <a:t>十大产业项目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100584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1005840"/>
            <a:ext cx="36576" cy="1234440"/>
          </a:xfrm>
          <a:prstGeom prst="rect">
            <a:avLst/>
          </a:prstGeom>
          <a:solidFill>
            <a:srgbClr val="9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106070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惠科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133502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长沙·浏阳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153619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Mini-LED背光/直显模组及整机，主厂房封顶，百亿级项目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201168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9C2828"/>
                </a:solidFill>
                <a:latin typeface="微软雅黑"/>
              </a:defRPr>
            </a:pPr>
            <a:r>
              <a:t>十大产业项目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00584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005840"/>
            <a:ext cx="36576" cy="1234440"/>
          </a:xfrm>
          <a:prstGeom prst="rect">
            <a:avLst/>
          </a:prstGeom>
          <a:solidFill>
            <a:srgbClr val="9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106070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中车时代半导体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133502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株洲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153619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中低压功率器件通线，国家级功率半导体集群链主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01168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9C2828"/>
                </a:solidFill>
                <a:latin typeface="微软雅黑"/>
              </a:defRPr>
            </a:pPr>
            <a:r>
              <a:t>十大产业项目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100584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81160" y="1005840"/>
            <a:ext cx="36576" cy="1234440"/>
          </a:xfrm>
          <a:prstGeom prst="rect">
            <a:avLst/>
          </a:prstGeom>
          <a:solidFill>
            <a:srgbClr val="9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90888" y="106070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邵虹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0888" y="133502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邵阳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153619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基板玻璃，3条热端+2条冷端生产线，第4条设计阶段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0888" y="201168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9C2828"/>
                </a:solidFill>
                <a:latin typeface="微软雅黑"/>
              </a:defRPr>
            </a:pPr>
            <a:r>
              <a:t>十大产业项目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233172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2331720"/>
            <a:ext cx="36576" cy="1234440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238658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金博股份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266090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益阳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286207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光电材料龙头，创新联合体，碳基材料技术领先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333756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C49A2A"/>
                </a:solidFill>
                <a:latin typeface="微软雅黑"/>
              </a:defRPr>
            </a:pPr>
            <a:r>
              <a:t>创新联合体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233172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20440" y="2331720"/>
            <a:ext cx="36576" cy="1234440"/>
          </a:xfrm>
          <a:prstGeom prst="rect">
            <a:avLst/>
          </a:prstGeom>
          <a:solidFill>
            <a:srgbClr val="E0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30168" y="238658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信维电科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30168" y="266090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益阳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30168" y="286207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电子元器件、5G配套，高端电子元器件核心企业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233172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2331720"/>
            <a:ext cx="36576" cy="1234440"/>
          </a:xfrm>
          <a:prstGeom prst="rect">
            <a:avLst/>
          </a:prstGeom>
          <a:solidFill>
            <a:srgbClr val="E0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0528" y="238658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光智通信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0528" y="266090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益阳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0528" y="286207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光通信器件研发制造，长益常科创走廊关键企业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81160" y="233172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81160" y="2331720"/>
            <a:ext cx="36576" cy="1234440"/>
          </a:xfrm>
          <a:prstGeom prst="rect">
            <a:avLst/>
          </a:prstGeom>
          <a:solidFill>
            <a:srgbClr val="E0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90888" y="238658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江丰电子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90888" y="266090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益阳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90888" y="286207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全球靶材龙头，益阳基地全球最大外埠，年产值超7.5亿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65760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" y="3657600"/>
            <a:ext cx="36576" cy="1234440"/>
          </a:xfrm>
          <a:prstGeom prst="rect">
            <a:avLst/>
          </a:prstGeom>
          <a:solidFill>
            <a:srgbClr val="E0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" y="371246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山嘉光电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8" y="398678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郴州·宜章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418795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大尺寸偏光片供应商，服务惠科/华星/京东方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20440" y="365760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20440" y="3657600"/>
            <a:ext cx="36576" cy="1234440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30168" y="371246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谱特光电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30168" y="398678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郴州·宜章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30168" y="418795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打破偏光片日韩垄断，超薄圆偏光片入选省首套件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30168" y="466344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C49A2A"/>
                </a:solidFill>
                <a:latin typeface="微软雅黑"/>
              </a:defRPr>
            </a:pPr>
            <a:r>
              <a:t>首套件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65760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657600"/>
            <a:ext cx="36576" cy="1234440"/>
          </a:xfrm>
          <a:prstGeom prst="rect">
            <a:avLst/>
          </a:prstGeom>
          <a:solidFill>
            <a:srgbClr val="E0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10528" y="371246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中沛光电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10528" y="398678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郴州·北湖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10528" y="418795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链主型企业，5秒/台手机整机，COG技术填补空白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81160" y="365760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281160" y="3657600"/>
            <a:ext cx="36576" cy="1234440"/>
          </a:xfrm>
          <a:prstGeom prst="rect">
            <a:avLst/>
          </a:prstGeom>
          <a:solidFill>
            <a:srgbClr val="E0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90888" y="371246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英飞拓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90888" y="398678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郴州·北湖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90888" y="418795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全国安防5强，年产值预计突破3亿元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" y="498348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0080" y="4983480"/>
            <a:ext cx="36576" cy="1234440"/>
          </a:xfrm>
          <a:prstGeom prst="rect">
            <a:avLst/>
          </a:prstGeom>
          <a:solidFill>
            <a:srgbClr val="E0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9808" y="503834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图灵智算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808" y="531266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808" y="551383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宽谱域高端光电产品，量子科技+光电融合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20440" y="498348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520440" y="4983480"/>
            <a:ext cx="36576" cy="1234440"/>
          </a:xfrm>
          <a:prstGeom prst="rect">
            <a:avLst/>
          </a:prstGeom>
          <a:solidFill>
            <a:srgbClr val="E0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30168" y="503834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麓邦光电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30168" y="531266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30168" y="551383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显示屏项目，光电功能材料与新型显示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98348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400800" y="4983480"/>
            <a:ext cx="36576" cy="1234440"/>
          </a:xfrm>
          <a:prstGeom prst="rect">
            <a:avLst/>
          </a:prstGeom>
          <a:solidFill>
            <a:srgbClr val="E0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10528" y="503834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明正宏电子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10528" y="531266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益阳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10528" y="551383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双层/多层线路板扩建，年产能增至150万平方米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281160" y="498348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281160" y="4983480"/>
            <a:ext cx="36576" cy="1234440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390888" y="503834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阿秒光学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390888" y="531266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郴州·北湖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90888" y="551383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激光蚀刻设备，与中沛形成技术闭环，良品率98.6%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90888" y="598932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C49A2A"/>
                </a:solidFill>
                <a:latin typeface="微软雅黑"/>
              </a:defRPr>
            </a:pPr>
            <a:r>
              <a:t>上市后备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660099"/>
                </a:solidFill>
                <a:latin typeface="微软雅黑"/>
              </a:defRPr>
            </a:pPr>
            <a:r>
              <a:t>创新平台与科研支撑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6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湖南省光电融合产业全景图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51560"/>
            <a:ext cx="3657600" cy="1536192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1887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188720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188720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湖南未来光电技术研究院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691640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益阳高新区×湖南师范大学共建</a:t>
            </a:r>
            <a:br/>
            <a:r>
              <a:t>突破硅基Micro-LED，申报专利86项，成果转化12项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6552" y="1051560"/>
            <a:ext cx="3657600" cy="1536192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53712" y="11887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188720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1188720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5G+电容器科技孵化器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1691640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益阳高新区</a:t>
            </a:r>
            <a:br/>
            <a:r>
              <a:t>科技型企业孵化器，聚焦光电产业创新孵化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1051560"/>
            <a:ext cx="3657600" cy="1536192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30184" y="11887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1188720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7384" y="1188720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新型电子元器件中试基地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1691640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益阳高新区</a:t>
            </a:r>
            <a:br/>
            <a:r>
              <a:t>科技成果转化中试基地，支撑光电元器件产业化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724912"/>
            <a:ext cx="3657600" cy="1536192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28620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2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862072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2862072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高校科研力量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364992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国防科大 · 湖南大学 · 中南大学</a:t>
            </a:r>
            <a:br/>
            <a:r>
              <a:t>湖南师大 · 长沙理工 · 湘南学院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6552" y="2724912"/>
            <a:ext cx="3657600" cy="1536192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53712" y="28620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9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2862072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912" y="2862072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金博股份创新联合体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364992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光电材料领域</a:t>
            </a:r>
            <a:br/>
            <a:r>
              <a:t>产学研协同攻关创新联合体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93024" y="2724912"/>
            <a:ext cx="3657600" cy="1536192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30184" y="28620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62072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7384" y="2862072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国家新型显示产业联盟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0184" y="3364992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宜章经开区光电产业协会加入</a:t>
            </a:r>
            <a:br/>
            <a:r>
              <a:t>拓宽产业发展空间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398264"/>
            <a:ext cx="3657600" cy="1536192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45354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535424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535424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新型显示研发中心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038344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宜章经开区投资390万元筹建</a:t>
            </a:r>
            <a:br/>
            <a:r>
              <a:t>产学研深度合作，4名国家级专家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16552" y="4398264"/>
            <a:ext cx="3657600" cy="1536192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53712" y="45354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53712" y="4535424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10912" y="4535424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郴江实验室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3712" y="5038344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郴州地区科研平台</a:t>
            </a:r>
            <a:br/>
            <a:r>
              <a:t>帮助企业解决技术痛点、研发难点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93024" y="4398264"/>
            <a:ext cx="3657600" cy="1536192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330184" y="45354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2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30184" y="4535424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87384" y="4535424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飞地园区 · 科创飞地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0184" y="5038344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益阳高新区-湘江新区飞地园区</a:t>
            </a:r>
            <a:br/>
            <a:r>
              <a:t>益阳（长沙）光电技术创新中心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660099"/>
                </a:solidFill>
                <a:latin typeface="微软雅黑"/>
              </a:defRPr>
            </a:pPr>
            <a:r>
              <a:t>政策支撑体系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7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湖南省光电融合产业全景图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51560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051560"/>
            <a:ext cx="54864" cy="1207008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143000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660099"/>
                </a:solidFill>
                <a:latin typeface="微软雅黑"/>
              </a:defRPr>
            </a:pPr>
            <a:r>
              <a:t>顶层规划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124712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湖南省"十五五"未来产业发展规划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554480"/>
            <a:ext cx="53035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谋划光电产业发展布局，光电信息列入重点方向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051560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051560"/>
            <a:ext cx="54864" cy="1207008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43000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006C67"/>
                </a:solidFill>
                <a:latin typeface="微软雅黑"/>
              </a:defRPr>
            </a:pPr>
            <a:r>
              <a:t>产业体系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124712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"4×4"现代化产业体系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554480"/>
            <a:ext cx="53035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功率半导体纳入重点培育，聚焦新型显示、人工智能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350008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350008"/>
            <a:ext cx="54864" cy="1207008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441448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C49A2A"/>
                </a:solidFill>
                <a:latin typeface="微软雅黑"/>
              </a:defRPr>
            </a:pPr>
            <a:r>
              <a:t>区域协同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2423160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"长益"未来光电技术科创与产业走廊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852928"/>
            <a:ext cx="53035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长沙-益阳科创走廊，规划衔接、政策协同、产业联动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350008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350008"/>
            <a:ext cx="54864" cy="1207008"/>
          </a:xfrm>
          <a:prstGeom prst="rect">
            <a:avLst/>
          </a:prstGeom>
          <a:solidFill>
            <a:srgbClr val="4B2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441448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4B2E73"/>
                </a:solidFill>
                <a:latin typeface="微软雅黑"/>
              </a:defRPr>
            </a:pPr>
            <a:r>
              <a:t>专项支持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423160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支持益阳高端电子元器件产业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852928"/>
            <a:ext cx="53035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重点发展激光器、光传感器、硅光芯片，打造湖南光电谷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648456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648456"/>
            <a:ext cx="54864" cy="1207008"/>
          </a:xfrm>
          <a:prstGeom prst="rect">
            <a:avLst/>
          </a:prstGeom>
          <a:solidFill>
            <a:srgbClr val="9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39896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9C2828"/>
                </a:solidFill>
                <a:latin typeface="微软雅黑"/>
              </a:defRPr>
            </a:pPr>
            <a:r>
              <a:t>成果转化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3721608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"先用后付"推广实施方案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151376"/>
            <a:ext cx="53035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首批推广537项科技成果，支持光电共性技术加速转化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648456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648456"/>
            <a:ext cx="54864" cy="1207008"/>
          </a:xfrm>
          <a:prstGeom prst="rect">
            <a:avLst/>
          </a:prstGeom>
          <a:solidFill>
            <a:srgbClr val="1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739896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1A2E5C"/>
                </a:solidFill>
                <a:latin typeface="微软雅黑"/>
              </a:defRPr>
            </a:pPr>
            <a:r>
              <a:t>飞地机制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721608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飞地园区发展若干措施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151376"/>
            <a:ext cx="53035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支持GDP核算、税收分成、能耗指标分配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946904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4946904"/>
            <a:ext cx="54864" cy="1207008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038344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660099"/>
                </a:solidFill>
                <a:latin typeface="微软雅黑"/>
              </a:defRPr>
            </a:pPr>
            <a:r>
              <a:t>知识产权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5020056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知识产权服务集聚试点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49824"/>
            <a:ext cx="53035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益阳高新区纳入试点，一站式综合服务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946904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4946904"/>
            <a:ext cx="54864" cy="1207008"/>
          </a:xfrm>
          <a:prstGeom prst="rect">
            <a:avLst/>
          </a:prstGeom>
          <a:solidFill>
            <a:srgbClr val="4B2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5038344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4B2E73"/>
                </a:solidFill>
                <a:latin typeface="微软雅黑"/>
              </a:defRPr>
            </a:pPr>
            <a:r>
              <a:t>区域规划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5020056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益阳"十五五"新型工业化规划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449824"/>
            <a:ext cx="53035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光电产业为战略性主导产业，明确湖南光电谷定位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660099"/>
                </a:solidFill>
                <a:latin typeface="微软雅黑"/>
              </a:defRPr>
            </a:pPr>
            <a:r>
              <a:t>发展趋势与未来方向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8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湖南省光电融合产业全景图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188720"/>
            <a:ext cx="2697480" cy="438912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188720"/>
            <a:ext cx="2697480" cy="54864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17320"/>
            <a:ext cx="1828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5600" b="1">
                <a:solidFill>
                  <a:srgbClr val="E8E0F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606040"/>
            <a:ext cx="548640" cy="27432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88920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660099"/>
                </a:solidFill>
                <a:latin typeface="微软雅黑"/>
              </a:defRPr>
            </a:pPr>
            <a:r>
              <a:t>AI + 光电融合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233172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AI算力大规模运算需求驱动光电技术战略地位提升，光互联替代电互联成为算力网络核心支撑，硅光CPO技术加速落地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188720"/>
            <a:ext cx="2697480" cy="438912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188720"/>
            <a:ext cx="2697480" cy="54864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1417320"/>
            <a:ext cx="1828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5600" b="1">
                <a:solidFill>
                  <a:srgbClr val="E8E0F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606040"/>
            <a:ext cx="548640" cy="27432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2788920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006C67"/>
                </a:solidFill>
                <a:latin typeface="微软雅黑"/>
              </a:defRPr>
            </a:pPr>
            <a:r>
              <a:t>国产替代加速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474720"/>
            <a:ext cx="233172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高端光芯片、EML、高速DSP国产化率不足10%，湖南在功率半导体、靶材、偏光片等领域实现突破，"从0到1"持续涌现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188720"/>
            <a:ext cx="2697480" cy="438912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188720"/>
            <a:ext cx="2697480" cy="54864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417320"/>
            <a:ext cx="1828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5600" b="1">
                <a:solidFill>
                  <a:srgbClr val="E8E0F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606040"/>
            <a:ext cx="548640" cy="27432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788920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C49A2A"/>
                </a:solidFill>
                <a:latin typeface="微软雅黑"/>
              </a:defRPr>
            </a:pPr>
            <a:r>
              <a:t>长益科创走廊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74720"/>
            <a:ext cx="233172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长沙研发+益阳转化模式深化，飞地园区机制打通区域壁垒，长益常科创走廊光电产业带加速成型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1188720"/>
            <a:ext cx="2697480" cy="438912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0" y="1188720"/>
            <a:ext cx="2697480" cy="54864"/>
          </a:xfrm>
          <a:prstGeom prst="rect">
            <a:avLst/>
          </a:prstGeom>
          <a:solidFill>
            <a:srgbClr val="9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1417320"/>
            <a:ext cx="1828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5600" b="1">
                <a:solidFill>
                  <a:srgbClr val="E8E0F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606040"/>
            <a:ext cx="548640" cy="27432"/>
          </a:xfrm>
          <a:prstGeom prst="rect">
            <a:avLst/>
          </a:prstGeom>
          <a:solidFill>
            <a:srgbClr val="9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2788920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9C2828"/>
                </a:solidFill>
                <a:latin typeface="微软雅黑"/>
              </a:defRPr>
            </a:pPr>
            <a:r>
              <a:t>湾区产业承接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474720"/>
            <a:ext cx="233172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湖南"一带一部"区位优势凸显，50个重点项目中24%承接长三角、粤港澳大湾区产业转移，郴州成为核心承接地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660099"/>
                </a:solidFill>
                <a:latin typeface="微软雅黑"/>
              </a:defRPr>
            </a:pPr>
            <a:r>
              <a:t>总结与展望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280160"/>
            <a:ext cx="10789920" cy="0"/>
          </a:xfrm>
          <a:prstGeom prst="line">
            <a:avLst/>
          </a:prstGeom>
          <a:ln w="1270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5448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2C2C2C"/>
                </a:solidFill>
                <a:latin typeface="微软雅黑"/>
              </a:defRPr>
            </a:pPr>
            <a:r>
              <a:t>湖南光电融合产业 — 迈向新质生产力高地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54864" cy="548640"/>
          </a:xfrm>
          <a:prstGeom prst="rect">
            <a:avLst/>
          </a:prstGeom>
          <a:solidFill>
            <a:srgbClr val="66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828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660099"/>
                </a:solidFill>
                <a:latin typeface="微软雅黑"/>
              </a:defRPr>
            </a:pPr>
            <a:r>
              <a:t>产业规模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651760"/>
            <a:ext cx="7772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1,571.74亿元重点项目总投资，50个重点项目，6个百亿级项目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310128"/>
            <a:ext cx="10058400" cy="54864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310128"/>
            <a:ext cx="54864" cy="548640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10128"/>
            <a:ext cx="1828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006C67"/>
                </a:solidFill>
                <a:latin typeface="微软雅黑"/>
              </a:defRPr>
            </a:pPr>
            <a:r>
              <a:t>区域格局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310128"/>
            <a:ext cx="7772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长沙-株洲-湘潭-益阳-郴州-邵阳-衡阳，七大集聚区协同发展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68496"/>
            <a:ext cx="10058400" cy="54864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968496"/>
            <a:ext cx="54864" cy="548640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68496"/>
            <a:ext cx="1828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C49A2A"/>
                </a:solidFill>
                <a:latin typeface="微软雅黑"/>
              </a:defRPr>
            </a:pPr>
            <a:r>
              <a:t>创新突破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968496"/>
            <a:ext cx="7772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硅基Micro-LED、功率半导体、偏光片国产替代，"从0到1"持续涌现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26864"/>
            <a:ext cx="10058400" cy="54864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626864"/>
            <a:ext cx="54864" cy="548640"/>
          </a:xfrm>
          <a:prstGeom prst="rect">
            <a:avLst/>
          </a:prstGeom>
          <a:solidFill>
            <a:srgbClr val="9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26864"/>
            <a:ext cx="1828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9C2828"/>
                </a:solidFill>
                <a:latin typeface="微软雅黑"/>
              </a:defRPr>
            </a:pPr>
            <a:r>
              <a:t>政策护航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626864"/>
            <a:ext cx="7772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"十五五"规划引领、长益科创走廊、飞地园区、先用后付成果转化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285231"/>
            <a:ext cx="10058400" cy="548640"/>
          </a:xfrm>
          <a:prstGeom prst="rect">
            <a:avLst/>
          </a:prstGeom>
          <a:solidFill>
            <a:srgbClr val="F5F3F8"/>
          </a:solidFill>
          <a:ln w="6350">
            <a:solidFill>
              <a:srgbClr val="E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5285231"/>
            <a:ext cx="54864" cy="548640"/>
          </a:xfrm>
          <a:prstGeom prst="rect">
            <a:avLst/>
          </a:prstGeom>
          <a:solidFill>
            <a:srgbClr val="1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285231"/>
            <a:ext cx="1828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1A2E5C"/>
                </a:solidFill>
                <a:latin typeface="微软雅黑"/>
              </a:defRPr>
            </a:pPr>
            <a:r>
              <a:t>未来方向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285231"/>
            <a:ext cx="77724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AI+光电融合、国产替代加速、湾区产业承接、长益常科创走廊成型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6035040"/>
            <a:ext cx="10515600" cy="0"/>
          </a:xfrm>
          <a:prstGeom prst="line">
            <a:avLst/>
          </a:prstGeom>
          <a:ln w="6350">
            <a:solidFill>
              <a:srgbClr val="E0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AAAAB8"/>
                </a:solidFill>
                <a:latin typeface="微软雅黑"/>
              </a:defRPr>
            </a:pPr>
            <a:r>
              <a:t>数据来源：湖南省工业和信息化厅 · 湖南省人民政府门户网站 · 湖南日报  |  2026年度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