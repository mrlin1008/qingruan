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109728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E8C8C0"/>
                </a:solidFill>
                <a:latin typeface="Arial"/>
              </a:defRPr>
            </a:pPr>
            <a:r>
              <a:t>HUNAN SEMICONDUCTOR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E8C8C0"/>
                </a:solidFill>
                <a:latin typeface="Arial"/>
              </a:defRPr>
            </a:pPr>
            <a:r>
              <a:t>INDUSTRY 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3200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D0A0A0"/>
                </a:solidFill>
                <a:latin typeface="Arial"/>
              </a:defRPr>
            </a:pPr>
            <a:r>
              <a:t>2026 RESEARCH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6858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C49A2A"/>
                </a:solidFill>
                <a:latin typeface="微软雅黑"/>
              </a:defRPr>
            </a:pPr>
            <a:r>
              <a:t>行业研究报告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68580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200" b="1">
                <a:solidFill>
                  <a:srgbClr val="8B1A1A"/>
                </a:solidFill>
                <a:latin typeface="微软雅黑"/>
              </a:defRPr>
            </a:pPr>
            <a:r>
              <a:t>湖南省半导体行业协会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80" y="3520440"/>
            <a:ext cx="3200400" cy="0"/>
          </a:xfrm>
          <a:prstGeom prst="line">
            <a:avLst/>
          </a:prstGeom>
          <a:ln w="25400">
            <a:solidFill>
              <a:srgbClr val="C49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0" y="3749039"/>
            <a:ext cx="6400800" cy="731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400" b="0">
                <a:solidFill>
                  <a:srgbClr val="4A4A4A"/>
                </a:solidFill>
                <a:latin typeface="微软雅黑"/>
              </a:defRPr>
            </a:pPr>
            <a:r>
              <a:t>芯聚潇湘 · 智链未来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400" b="0">
                <a:solidFill>
                  <a:srgbClr val="4A4A4A"/>
                </a:solidFill>
                <a:latin typeface="微软雅黑"/>
              </a:defRPr>
            </a:pPr>
            <a:r>
              <a:t>凝聚发展强大合力，推进产业集群高端高质高效发展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30352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基于公开信息整理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协会概况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2 / 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湖南省半导体行业协会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2240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成立时间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2240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B52E2E"/>
                </a:solidFill>
                <a:latin typeface="微软雅黑"/>
              </a:defRPr>
            </a:pPr>
            <a:r>
              <a:t>2022年10月10日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94560"/>
            <a:ext cx="2240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长沙中电软件园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371600"/>
            <a:ext cx="2240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首任会长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691640"/>
            <a:ext cx="2240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B52E2E"/>
                </a:solidFill>
                <a:latin typeface="微软雅黑"/>
              </a:defRPr>
            </a:pPr>
            <a:r>
              <a:t>丁荣军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194560"/>
            <a:ext cx="2240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中国工程院院士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2240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发起单位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91640"/>
            <a:ext cx="2240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B52E2E"/>
                </a:solidFill>
                <a:latin typeface="微软雅黑"/>
              </a:defRPr>
            </a:pPr>
            <a:r>
              <a:t>16家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94560"/>
            <a:ext cx="2240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知名半导体企业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39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1371600"/>
            <a:ext cx="2240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会员规模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1691640"/>
            <a:ext cx="2240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B52E2E"/>
                </a:solidFill>
                <a:latin typeface="微软雅黑"/>
              </a:defRPr>
            </a:pPr>
            <a:r>
              <a:t>74家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194560"/>
            <a:ext cx="2240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含企业及高校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926080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600" b="1">
                <a:solidFill>
                  <a:srgbClr val="8B1A1A"/>
                </a:solidFill>
                <a:latin typeface="微软雅黑"/>
              </a:defRPr>
            </a:pPr>
            <a:r>
              <a:t>▎协会简介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337560"/>
            <a:ext cx="10972800" cy="1463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湖南省半导体行业协会是由中车半导体、景嘉微电子、国科微电子、楚微半导体、三安半导体、湘能华磊光电等16家单位共同发起，于</a:t>
            </a:r>
          </a:p>
          <a:p>
            <a:pPr algn="l">
              <a:lnSpc>
                <a:spcPct val="16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2022年10月10日在长沙中电软件园正式成立。协会以"联合会员单位聚力核心技术攻关，打通产业上下游"为宗旨，集聚行业内</a:t>
            </a:r>
          </a:p>
          <a:p>
            <a:pPr algn="l">
              <a:lnSpc>
                <a:spcPct val="16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领先领军企业和顶尖人才，致力于成为推进湖南省半导体产业集群集聚集约、高端高质高效发展的坚实力量和重要平台。中国工程院院士</a:t>
            </a:r>
          </a:p>
          <a:p>
            <a:pPr algn="l">
              <a:lnSpc>
                <a:spcPct val="16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丁荣军当选首任会长，罗海辉、杨国庆、王志春任副会长，王志春兼任秘书长。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2064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📍 协会地址：湖南省长沙市高新区中电软件园  |  🏛 主管单位：湖南省工业和信息化厅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组织架构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3 / 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湖南省半导体行业协会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188720"/>
            <a:ext cx="2926080" cy="1005840"/>
          </a:xfrm>
          <a:prstGeom prst="roundRect">
            <a:avLst>
              <a:gd name="adj" fmla="val 8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280160"/>
            <a:ext cx="2926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C49A2A"/>
                </a:solidFill>
                <a:latin typeface="微软雅黑"/>
              </a:defRPr>
            </a:pPr>
            <a:r>
              <a:t>会  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00200"/>
            <a:ext cx="29260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丁荣军（中国工程院院士）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0" y="2194560"/>
            <a:ext cx="0" cy="274320"/>
          </a:xfrm>
          <a:prstGeom prst="line">
            <a:avLst/>
          </a:prstGeom>
          <a:ln w="19050">
            <a:solidFill>
              <a:srgbClr val="B5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28800" y="2651760"/>
            <a:ext cx="2743200" cy="777240"/>
          </a:xfrm>
          <a:prstGeom prst="roundRect">
            <a:avLst>
              <a:gd name="adj" fmla="val 5000"/>
            </a:avLst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副会长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17520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600" b="1">
                <a:solidFill>
                  <a:srgbClr val="8B1A1A"/>
                </a:solidFill>
                <a:latin typeface="微软雅黑"/>
              </a:defRPr>
            </a:pPr>
            <a:r>
              <a:t>罗海辉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651760"/>
            <a:ext cx="2743200" cy="777240"/>
          </a:xfrm>
          <a:prstGeom prst="roundRect">
            <a:avLst>
              <a:gd name="adj" fmla="val 5000"/>
            </a:avLst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743200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副会长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017520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600" b="1">
                <a:solidFill>
                  <a:srgbClr val="8B1A1A"/>
                </a:solidFill>
                <a:latin typeface="微软雅黑"/>
              </a:defRPr>
            </a:pPr>
            <a:r>
              <a:t>杨国庆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651760"/>
            <a:ext cx="2743200" cy="777240"/>
          </a:xfrm>
          <a:prstGeom prst="roundRect">
            <a:avLst>
              <a:gd name="adj" fmla="val 5000"/>
            </a:avLst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743200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副会长兼秘书长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017520"/>
            <a:ext cx="2743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600" b="1">
                <a:solidFill>
                  <a:srgbClr val="8B1A1A"/>
                </a:solidFill>
                <a:latin typeface="微软雅黑"/>
              </a:defRPr>
            </a:pPr>
            <a:r>
              <a:t>王志春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0" y="3429000"/>
            <a:ext cx="0" cy="274320"/>
          </a:xfrm>
          <a:prstGeom prst="line">
            <a:avLst/>
          </a:prstGeom>
          <a:ln w="12700">
            <a:solidFill>
              <a:srgbClr val="B5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00800" y="3429000"/>
            <a:ext cx="0" cy="274320"/>
          </a:xfrm>
          <a:prstGeom prst="line">
            <a:avLst/>
          </a:prstGeom>
          <a:ln w="12700">
            <a:solidFill>
              <a:srgbClr val="B5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01200" y="3429000"/>
            <a:ext cx="0" cy="274320"/>
          </a:xfrm>
          <a:prstGeom prst="line">
            <a:avLst/>
          </a:prstGeom>
          <a:ln w="12700">
            <a:solidFill>
              <a:srgbClr val="B5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38862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DF7F5"/>
          </a:solidFill>
          <a:ln w="19050">
            <a:solidFill>
              <a:srgbClr val="B5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886200"/>
            <a:ext cx="3383280" cy="54864"/>
          </a:xfrm>
          <a:prstGeom prst="rect">
            <a:avLst/>
          </a:prstGeom>
          <a:solidFill>
            <a:srgbClr val="B5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069080"/>
            <a:ext cx="3017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B52E2E"/>
                </a:solidFill>
                <a:latin typeface="微软雅黑"/>
              </a:defRPr>
            </a:pPr>
            <a:r>
              <a:t>理事会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34840"/>
            <a:ext cx="301752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lnSpc>
                <a:spcPct val="15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审议人事调整、财务报告</a:t>
            </a:r>
          </a:p>
          <a:p>
            <a:pPr algn="ctr">
              <a:lnSpc>
                <a:spcPct val="15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及新入会会员申请等事宜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38862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DF7F5"/>
          </a:solidFill>
          <a:ln w="19050">
            <a:solidFill>
              <a:srgbClr val="006C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0" y="3886200"/>
            <a:ext cx="3383280" cy="54864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4069080"/>
            <a:ext cx="3017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006C67"/>
                </a:solidFill>
                <a:latin typeface="微软雅黑"/>
              </a:defRPr>
            </a:pPr>
            <a:r>
              <a:t>秘书处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434840"/>
            <a:ext cx="301752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lnSpc>
                <a:spcPct val="15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负责协会日常运营管理</a:t>
            </a:r>
          </a:p>
          <a:p>
            <a:pPr algn="ctr">
              <a:lnSpc>
                <a:spcPct val="15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协调会员服务与对外联络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38862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DF7F5"/>
          </a:solidFill>
          <a:ln w="19050">
            <a:solidFill>
              <a:srgbClr val="C49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5360" y="3886200"/>
            <a:ext cx="3383280" cy="54864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4069080"/>
            <a:ext cx="3017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C49A2A"/>
                </a:solidFill>
                <a:latin typeface="微软雅黑"/>
              </a:defRPr>
            </a:pPr>
            <a:r>
              <a:t>团体标准技术委员会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434840"/>
            <a:ext cx="301752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lnSpc>
                <a:spcPct val="15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制定发布团体标准</a:t>
            </a:r>
          </a:p>
          <a:p>
            <a:pPr algn="ctr">
              <a:lnSpc>
                <a:spcPct val="15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如《SiP通用技术要求》等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▎会员单位：74家（含企业和高校）  |  涵盖芯片设计、制造、封测、设备材料等全产业链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主要发起单位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4 / 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湖南省半导体行业协会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88720"/>
            <a:ext cx="35204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88720"/>
            <a:ext cx="54864" cy="2286000"/>
          </a:xfrm>
          <a:prstGeom prst="rect">
            <a:avLst/>
          </a:prstGeom>
          <a:solidFill>
            <a:srgbClr val="B5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14630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B5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90472"/>
            <a:ext cx="411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46304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B52E2E"/>
                </a:solidFill>
                <a:latin typeface="微软雅黑"/>
              </a:defRPr>
            </a:pPr>
            <a:r>
              <a:t>中车半导体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874520"/>
            <a:ext cx="2468880" cy="137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E8DEDA"/>
                </a:solidFill>
                <a:latin typeface="微软雅黑"/>
              </a:defRPr>
            </a:pPr>
            <a:r>
              <a:t>————————————————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194560"/>
            <a:ext cx="3063240" cy="1005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功率半导体器件龙头，IGBT/SiC器件研发制造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19" y="1188720"/>
            <a:ext cx="35204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19" y="1188720"/>
            <a:ext cx="54864" cy="2286000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19" y="14630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19" y="1490472"/>
            <a:ext cx="411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146304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D46A1A"/>
                </a:solidFill>
                <a:latin typeface="微软雅黑"/>
              </a:defRPr>
            </a:pPr>
            <a:r>
              <a:t>景嘉微电子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1874520"/>
            <a:ext cx="2468880" cy="137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E8DEDA"/>
                </a:solidFill>
                <a:latin typeface="微软雅黑"/>
              </a:defRPr>
            </a:pPr>
            <a:r>
              <a:t>————————————————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2194560"/>
            <a:ext cx="3063240" cy="1005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国产GPU领军企业，图形处理芯片设计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1188720"/>
            <a:ext cx="35204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59" y="1188720"/>
            <a:ext cx="54864" cy="2286000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66759" y="14630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1490472"/>
            <a:ext cx="411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9" y="146304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006C67"/>
                </a:solidFill>
                <a:latin typeface="微软雅黑"/>
              </a:defRPr>
            </a:pPr>
            <a:r>
              <a:t>国科微电子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1874520"/>
            <a:ext cx="2468880" cy="137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E8DEDA"/>
                </a:solidFill>
                <a:latin typeface="微软雅黑"/>
              </a:defRPr>
            </a:pPr>
            <a:r>
              <a:t>————————————————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2194560"/>
            <a:ext cx="3063240" cy="1005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大规模集成电路设计，存储/视频解码芯片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749040"/>
            <a:ext cx="35204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749040"/>
            <a:ext cx="54864" cy="2286000"/>
          </a:xfrm>
          <a:prstGeom prst="rect">
            <a:avLst/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40233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050792"/>
            <a:ext cx="411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02336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1A2E5C"/>
                </a:solidFill>
                <a:latin typeface="微软雅黑"/>
              </a:defRPr>
            </a:pPr>
            <a:r>
              <a:t>楚微半导体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434840"/>
            <a:ext cx="2468880" cy="137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E8DEDA"/>
                </a:solidFill>
                <a:latin typeface="微软雅黑"/>
              </a:defRPr>
            </a:pPr>
            <a:r>
              <a:t>————————————————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754880"/>
            <a:ext cx="3063240" cy="1005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特色工艺集成电路制造，晶圆代工服务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19" y="3749040"/>
            <a:ext cx="35204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19" y="3749040"/>
            <a:ext cx="54864" cy="2286000"/>
          </a:xfrm>
          <a:prstGeom prst="rect">
            <a:avLst/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17719" y="40233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17719" y="4050792"/>
            <a:ext cx="411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79" y="402336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E864B"/>
                </a:solidFill>
                <a:latin typeface="微软雅黑"/>
              </a:defRPr>
            </a:pPr>
            <a:r>
              <a:t>三安半导体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79" y="4434840"/>
            <a:ext cx="2468880" cy="137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E8DEDA"/>
                </a:solidFill>
                <a:latin typeface="微软雅黑"/>
              </a:defRPr>
            </a:pPr>
            <a:r>
              <a:t>————————————————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19" y="4754880"/>
            <a:ext cx="3063240" cy="1005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化合物半导体龙头，碳化硅衬底/器件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59" y="3749040"/>
            <a:ext cx="35204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59" y="3749040"/>
            <a:ext cx="54864" cy="2286000"/>
          </a:xfrm>
          <a:prstGeom prst="rect">
            <a:avLst/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66759" y="40233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59" y="4050792"/>
            <a:ext cx="411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19" y="402336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6C3480"/>
                </a:solidFill>
                <a:latin typeface="微软雅黑"/>
              </a:defRPr>
            </a:pPr>
            <a:r>
              <a:t>湘能华磊光电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19" y="4434840"/>
            <a:ext cx="2468880" cy="137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E8DEDA"/>
                </a:solidFill>
                <a:latin typeface="微软雅黑"/>
              </a:defRPr>
            </a:pPr>
            <a:r>
              <a:t>————————————————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59" y="4754880"/>
            <a:ext cx="3063240" cy="1005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LED芯片及光电半导体器件研发制造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AAAAB8"/>
                </a:solidFill>
                <a:latin typeface="微软雅黑"/>
              </a:defRPr>
            </a:pPr>
            <a:r>
              <a:t>※ 以上为部分发起单位，共16家发起单位及74家会员单位，涵盖芯片设计、制造、封测、装备材料等全产业链环节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主要职能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5 / 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湖南省半导体行业协会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45720" cy="868680"/>
          </a:xfrm>
          <a:prstGeom prst="rect">
            <a:avLst/>
          </a:prstGeom>
          <a:solidFill>
            <a:srgbClr val="B5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161288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B52E2E"/>
                </a:solidFill>
                <a:latin typeface="微软雅黑"/>
              </a:defRPr>
            </a:pPr>
            <a:r>
              <a:t>🏭 产业协作与创新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90472"/>
            <a:ext cx="1051560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发挥桥梁纽带作用，组织产业链上下游企业、高校、科研院所，采取“揭榜挂帅”“赛马”等方式开展“产学研用”一体化攻关和“链式”协同攻关，推动芯片制造业高端化、智能化、绿色化发展。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40280"/>
            <a:ext cx="45720" cy="868680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258568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D46A1A"/>
                </a:solidFill>
                <a:latin typeface="微软雅黑"/>
              </a:defRPr>
            </a:pPr>
            <a:r>
              <a:t>📋 团体标准制定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87752"/>
            <a:ext cx="1051560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根据《湖南省半导体行业协会团体标准管理办法》，组织制定和发布团体标准（如《系统级封装(SiP)通用技术要求》等），批准相关团体标准立项，提升行业标准化水平。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37560"/>
            <a:ext cx="45720" cy="868680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C49A2A"/>
                </a:solidFill>
                <a:latin typeface="微软雅黑"/>
              </a:defRPr>
            </a:pPr>
            <a:r>
              <a:t>🎓 产教融合与人才培养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85032"/>
            <a:ext cx="1051560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组织校企交流，共建实习实训基地，联合技术攻关，促进产学研用深度融合，联合培养研究生和高素质复合型人才。多所高校已入选首批高校会员单位。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34839"/>
            <a:ext cx="45720" cy="868680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53127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006C67"/>
                </a:solidFill>
                <a:latin typeface="微软雅黑"/>
              </a:defRPr>
            </a:pPr>
            <a:r>
              <a:t>🤝 行业交流与合作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82311"/>
            <a:ext cx="1051560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组织行业年会、发布产业白皮书、与其他地区半导体行业协会及产业园区签订战略合作协议，举办主题沙龙活动，策划筹办产业峰会和创新成果展等大型品牌活动。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32120"/>
            <a:ext cx="45720" cy="868680"/>
          </a:xfrm>
          <a:prstGeom prst="rect">
            <a:avLst/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50408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1A2E5C"/>
                </a:solidFill>
                <a:latin typeface="微软雅黑"/>
              </a:defRPr>
            </a:pPr>
            <a:r>
              <a:t>📊 产业调研与政策呼吁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79592"/>
            <a:ext cx="1051560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开展企业调研、报告编写、智库建设、产业活动举办、企业对接、政策呼吁等工作，向政府反映产业发展诉求，争取政策与资源支持。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近期重要活动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6 / 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湖南省半导体行业协会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12344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5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728216" y="1399032"/>
            <a:ext cx="0" cy="795528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1097280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C49A2A"/>
                </a:solidFill>
                <a:latin typeface="微软雅黑"/>
              </a:defRPr>
            </a:pPr>
            <a:r>
              <a:t>2022年10月10日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09728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8B1A1A"/>
                </a:solidFill>
                <a:latin typeface="微软雅黑"/>
              </a:defRPr>
            </a:pPr>
            <a:r>
              <a:t>第一次会员大会暨成立大会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444752"/>
            <a:ext cx="91440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在长沙中电软件园召开，选举产生第一届理事会，丁荣军院士当选会长，标志着湖南省半导体产业进入组织化协同发展新阶段。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23317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5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728216" y="2496312"/>
            <a:ext cx="0" cy="795528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2194560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C49A2A"/>
                </a:solidFill>
                <a:latin typeface="微软雅黑"/>
              </a:defRPr>
            </a:pPr>
            <a:r>
              <a:t>2023年度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19456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8B1A1A"/>
                </a:solidFill>
                <a:latin typeface="微软雅黑"/>
              </a:defRPr>
            </a:pPr>
            <a:r>
              <a:t>第一届第三次理事会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542032"/>
            <a:ext cx="91440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审议人事调整、财务报告及新入会会员申请，黄奂果任协会秘书长，进一步完善了协会的组织架构和管理机制。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34290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5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728216" y="3593592"/>
            <a:ext cx="0" cy="795528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3291840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C49A2A"/>
                </a:solidFill>
                <a:latin typeface="微软雅黑"/>
              </a:defRPr>
            </a:pPr>
            <a:r>
              <a:t>2024年度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29184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8B1A1A"/>
                </a:solidFill>
                <a:latin typeface="微软雅黑"/>
              </a:defRPr>
            </a:pPr>
            <a:r>
              <a:t>会员大会暨工作总结会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639312"/>
            <a:ext cx="91440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“芯聚潇湘、智链未来”主题会议，总结年度工作成果，规划下一阶段重点任务，促进会员单位交流合作。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4526279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5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728216" y="4690871"/>
            <a:ext cx="0" cy="795528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4389119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C49A2A"/>
                </a:solidFill>
                <a:latin typeface="微软雅黑"/>
              </a:defRPr>
            </a:pPr>
            <a:r>
              <a:t>2024-2025年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389119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8B1A1A"/>
                </a:solidFill>
                <a:latin typeface="微软雅黑"/>
              </a:defRPr>
            </a:pPr>
            <a:r>
              <a:t>校企合作调研交流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736591"/>
            <a:ext cx="91440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湖南师范大学等高校科创调研小组赴协会调研学习，推动产教融合，共建实习实训基地，联合培养高素质半导体人才。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56235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5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C49A2A"/>
                </a:solidFill>
                <a:latin typeface="微软雅黑"/>
              </a:defRPr>
            </a:pPr>
            <a:r>
              <a:t>2024-2025年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548640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8B1A1A"/>
                </a:solidFill>
                <a:latin typeface="微软雅黑"/>
              </a:defRPr>
            </a:pPr>
            <a:r>
              <a:t>团体标准立项与发布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833872"/>
            <a:ext cx="91440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发布《系统级封装(SiP)通用技术要求》等团体标准，推动湖南省半导体行业标准化、规范化发展。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产业意义与展望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7 / 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湖南省半导体行业协会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8B1A1A"/>
                </a:solidFill>
                <a:latin typeface="微软雅黑"/>
              </a:defRPr>
            </a:pPr>
            <a:r>
              <a:t>▎协会成立的重要意义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1600200"/>
            <a:ext cx="5029200" cy="0"/>
          </a:xfrm>
          <a:prstGeom prst="line">
            <a:avLst/>
          </a:prstGeom>
          <a:ln w="19050">
            <a:solidFill>
              <a:srgbClr val="B5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1828800"/>
            <a:ext cx="5029200" cy="457200"/>
          </a:xfrm>
          <a:prstGeom prst="roundRect">
            <a:avLst>
              <a:gd name="adj" fmla="val 3000"/>
            </a:avLst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01952"/>
            <a:ext cx="4663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2C2C2C"/>
                </a:solidFill>
                <a:latin typeface="微软雅黑"/>
              </a:defRPr>
            </a:pPr>
            <a:r>
              <a:t>🔗 打通产业链上下游，形成协同创新合力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77440"/>
            <a:ext cx="5029200" cy="45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50592"/>
            <a:ext cx="4663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2C2C2C"/>
                </a:solidFill>
                <a:latin typeface="微软雅黑"/>
              </a:defRPr>
            </a:pPr>
            <a:r>
              <a:t>🏗 集聚领军企业和顶尖人才，构建产业生态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5029200" cy="457200"/>
          </a:xfrm>
          <a:prstGeom prst="roundRect">
            <a:avLst>
              <a:gd name="adj" fmla="val 3000"/>
            </a:avLst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99232"/>
            <a:ext cx="4663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2C2C2C"/>
                </a:solidFill>
                <a:latin typeface="微软雅黑"/>
              </a:defRPr>
            </a:pPr>
            <a:r>
              <a:t>🚀 加速核心技术攻关，突破"卡脖子"难题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19"/>
            <a:ext cx="5029200" cy="45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47871"/>
            <a:ext cx="4663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2C2C2C"/>
                </a:solidFill>
                <a:latin typeface="微软雅黑"/>
              </a:defRPr>
            </a:pPr>
            <a:r>
              <a:t>📈 推动湖南半导体产业集群集聚集约发展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23360"/>
            <a:ext cx="5029200" cy="457200"/>
          </a:xfrm>
          <a:prstGeom prst="roundRect">
            <a:avLst>
              <a:gd name="adj" fmla="val 3000"/>
            </a:avLst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96512"/>
            <a:ext cx="4663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2C2C2C"/>
                </a:solidFill>
                <a:latin typeface="微软雅黑"/>
              </a:defRPr>
            </a:pPr>
            <a:r>
              <a:t>🌐 提升湖南半导体产业在全国的知名度和影响力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72000"/>
            <a:ext cx="5029200" cy="45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645152"/>
            <a:ext cx="4663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2C2C2C"/>
                </a:solidFill>
                <a:latin typeface="微软雅黑"/>
              </a:defRPr>
            </a:pPr>
            <a:r>
              <a:t>🎯 为政府决策提供产业智库支撑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8B1A1A"/>
                </a:solidFill>
                <a:latin typeface="微软雅黑"/>
              </a:defRPr>
            </a:pPr>
            <a:r>
              <a:t>▎未来展望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1600200"/>
            <a:ext cx="5029200" cy="0"/>
          </a:xfrm>
          <a:prstGeom prst="line">
            <a:avLst/>
          </a:prstGeom>
          <a:ln w="19050">
            <a:solidFill>
              <a:srgbClr val="C49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1828800"/>
            <a:ext cx="5029200" cy="3931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随着全球半导体产业格局深刻变革，湖南作为中部地区重要的半导体产业基地，正迎来前所未有的发展机遇。湖南省半导体行业协会将继续发挥桥梁纽带作用，重点推进以下工作：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• 深化“产学研用”协同创新机制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• 完善团体标准体系建设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• 推动第三代半导体（碳化硅/氮化镓）产业布局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• 加强功率半导体、GPU芯片等优势领域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• 促进长株潭半导体产业一体化发展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• 对接长三角、珠三角产业资源</a:t>
            </a: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</a:p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在丁荣军院士的引领下，协会将凝聚74家会员单位的创新合力，将湖南打造成为国内领先、具有国际影响力的半导体产业高地。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303520"/>
            <a:ext cx="10972800" cy="502920"/>
          </a:xfrm>
          <a:prstGeom prst="roundRect">
            <a:avLst>
              <a:gd name="adj" fmla="val 5000"/>
            </a:avLst>
          </a:prstGeom>
          <a:solidFill>
            <a:srgbClr val="FCF5F3"/>
          </a:solidFill>
          <a:ln w="12700">
            <a:solidFill>
              <a:srgbClr val="B5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4924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8B1A1A"/>
                </a:solidFill>
                <a:latin typeface="微软雅黑"/>
              </a:defRPr>
            </a:pPr>
            <a:r>
              <a:t>芯聚潇湘，智链未来 —— 湖南省半导体行业协会将持续推进产业集群高端高质高效发展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